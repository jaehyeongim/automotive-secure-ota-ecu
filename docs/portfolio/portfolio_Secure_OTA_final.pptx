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github.com/JaehyeongIm/automotive-secure-ota-ecu" TargetMode="External"/><Relationship Id="rId4" Type="http://schemas.openxmlformats.org/officeDocument/2006/relationships/hyperlink" Target="https://youtu.be/_RbVwU_nPHI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hyperlink" Target="https://youtu.be/_RbVwU_nPHI" TargetMode="External"/><Relationship Id="rId7" Type="http://schemas.openxmlformats.org/officeDocument/2006/relationships/hyperlink" Target="https://github.com/JaehyeongIm/automotive-secure-ota-ecu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JaehyeongIm/automotive-secure-ota-ecu" TargetMode="External"/><Relationship Id="rId3" Type="http://schemas.openxmlformats.org/officeDocument/2006/relationships/hyperlink" Target="https://youtu.be/_RbVwU_nPHI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FIRMWARE  ENGINEERING  PORTFOLIO</a:t>
            </a:r>
            <a:r>
              <a:rPr sz="12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· 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CAN 기반 Secure OTA</a:t>
            </a:r>
          </a:p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펌웨어 업데이트 파이프라인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127248"/>
            <a:ext cx="210312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310128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Dual ECU · Custom Secure Bootloader · UDS over ISO-TP · A/B Slot Rollback</a:t>
            </a:r>
          </a:p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245A74"/>
                </a:solidFill>
                <a:latin typeface="Apple SD Gothic Neo"/>
                <a:ea typeface="Apple SD Gothic Neo"/>
                <a:cs typeface="Apple SD Gothic Neo"/>
              </a:rPr>
              <a:t>실물 RC 차량(on-target)으로 보안·안전 핵심 기능을 직접 실증한 임베디드 시스템</a:t>
            </a:r>
          </a:p>
        </p:txBody>
      </p:sp>
      <p:pic>
        <p:nvPicPr>
          <p:cNvPr id="9" name="Picture 8" descr="cover_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298448"/>
            <a:ext cx="4590288" cy="3044952"/>
          </a:xfrm>
          <a:prstGeom prst="rect">
            <a:avLst/>
          </a:prstGeom>
          <a:ln w="12700">
            <a:solidFill>
              <a:srgbClr val="C6D0DC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6967728" y="1298448"/>
            <a:ext cx="64008" cy="304495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444398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실증 벤치 — RPi5 Gateway · CANable · STM32 Dual ECU · 전원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029200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5029200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STM32F446RE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22576" y="502920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22576" y="502920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ARM Cortex-M4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22191" y="5029200"/>
            <a:ext cx="22402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22191" y="5029200"/>
            <a:ext cx="22402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Custom Secure Bootloader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502920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0488" y="502920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CAN · ISO-TP · UDS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502920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01583" y="502920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ECDSA-P256 · HMAC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5029200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12680" y="5029200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Jenkins CI/CD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" y="5870448"/>
            <a:ext cx="10671048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59893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임재형  Jaehyeong Im</a:t>
            </a:r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|   펌웨어 개발자 (신입)   ·   </a:t>
            </a:r>
            <a:r>
              <a:rPr sz="105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dlawogud517@gmail.com</a:t>
            </a:r>
          </a:p>
          <a:p>
            <a:pPr algn="l"/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GitHub  </a:t>
            </a:r>
            <a:r>
              <a:rPr sz="105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  <a:hlinkClick r:id="rId3"/>
              </a:rPr>
              <a:t>github.com/JaehyeongIm/automotive-secure-ota-ecu</a:t>
            </a:r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  Demo  </a:t>
            </a:r>
            <a:r>
              <a:rPr sz="105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  <a:hlinkClick r:id="rId4"/>
              </a:rPr>
              <a:t>▶ youtu.be/_RbVwU_nPHI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01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프로젝트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02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110550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Raspberry Pi 5를 차량 OTA Gateway 겸 CI/CD 서버로,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STM32F446RE 2대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를 차량 ECU로 구성해 CAN 기반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Secure OTA 펌웨어 업데이트 파이프라인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을 설계·구현하고 실물 RC 차량(on-target)으로 실증한 임베디드 시스템.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6 + 1</a:t>
            </a:r>
          </a:p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보안 기능 6종  +  안전 기능 1종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0232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0232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78</a:t>
            </a:r>
          </a:p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단위 테스트  ·  라인 91% / 분기 79%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3536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3536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4 / 4</a:t>
            </a:r>
          </a:p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on-target 실증 PASS  (실 OTA·CAN·RC)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ASPICE</a:t>
            </a:r>
          </a:p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표준 산출물 + ADR×9 + 8D×10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49039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핵심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114800"/>
            <a:ext cx="67665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전장 OTA 핵심 기능 실증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Secure Boot · A/B Rollback · UDS 리프로그래밍 · 위협 방어를 실물로 검증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요구사항 기반 개발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SRS→설계→구현→테스트 양방향 추적성 (ASPICE 참고)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무중단 업데이트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주행 중 다운로드 · IDLE 활성화로 App v1→v2 OTA 슬롯 전환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9248" y="3822191"/>
            <a:ext cx="3922776" cy="2286000"/>
          </a:xfrm>
          <a:prstGeom prst="roundRect">
            <a:avLst>
              <a:gd name="adj" fmla="val 4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99248" y="3822191"/>
            <a:ext cx="3922776" cy="2286000"/>
          </a:xfrm>
          <a:prstGeom prst="roundRect">
            <a:avLst>
              <a:gd name="adj" fmla="val 4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범위와 관점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05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양산 ECU의 완전 재현이 아니라, 가용 플랫폼(F446RE·RPi5) 범위에서 Secure OTA의 핵심 설계 사고와 전장 펌웨어 역량을 증명하는 것을 목표로 함.</a:t>
            </a:r>
          </a:p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한계는 명시적으로 인정하고 개선 경로를 ADR·로드맵으로 문서화.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02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시스템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03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508760"/>
            <a:ext cx="4114800" cy="566928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23360" y="1508760"/>
            <a:ext cx="4114800" cy="566928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개발자 PC</a:t>
            </a: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소스 작성 · git push (코드) / git tag vN (릴리스)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5584" y="2121408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2505456"/>
            <a:ext cx="9601200" cy="969264"/>
          </a:xfrm>
          <a:prstGeom prst="roundRect">
            <a:avLst>
              <a:gd name="adj" fmla="val 5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80160" y="2505456"/>
            <a:ext cx="9601200" cy="969264"/>
          </a:xfrm>
          <a:prstGeom prst="roundRect">
            <a:avLst>
              <a:gd name="adj" fmla="val 5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Raspberry Pi 5</a:t>
            </a:r>
            <a:r>
              <a:rPr sz="115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    OTA Gateway  +  Jenkins CI/CD 서버</a:t>
            </a:r>
          </a:p>
          <a:p>
            <a:pPr algn="ctr"/>
            <a:r>
              <a:rPr sz="100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ECU Inventory 수집 · IDLE 감지 후 전송 · 빌드 / ECDSA 서명 / ★배포 승인 게이트 · CAN 송수신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4" y="3520440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3822191"/>
            <a:ext cx="9601200" cy="365760"/>
          </a:xfrm>
          <a:prstGeom prst="roundRect">
            <a:avLst>
              <a:gd name="adj" fmla="val 3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80160" y="3822191"/>
            <a:ext cx="9601200" cy="3657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CAN Bus  ·  500 kbps  ·  SN65HVD230 Transceiver  ·  UDS over ISO-TP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370832"/>
            <a:ext cx="4617720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4370832"/>
            <a:ext cx="73152" cy="15179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17904" y="44805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DriveECU  (STM32F446RE)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4846320"/>
            <a:ext cx="4206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Custom Bootloader · A/B Slot</a:t>
            </a:r>
          </a:p>
          <a:p>
            <a:pPr algn="l">
              <a:lnSpc>
                <a:spcPct val="105000"/>
              </a:lnSpc>
              <a:spcBef>
                <a:spcPts val="35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B1 버튼 트리거 직진 주행</a:t>
            </a:r>
          </a:p>
          <a:p>
            <a:pPr algn="l">
              <a:lnSpc>
                <a:spcPct val="105000"/>
              </a:lnSpc>
              <a:spcBef>
                <a:spcPts val="35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TB6612FNG 모터 PWM 제어</a:t>
            </a:r>
          </a:p>
          <a:p>
            <a:pPr algn="l">
              <a:lnSpc>
                <a:spcPct val="105000"/>
              </a:lnSpc>
              <a:spcBef>
                <a:spcPts val="35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상태 보고 heartbeat 0x100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370832"/>
            <a:ext cx="4617720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370832"/>
            <a:ext cx="73152" cy="15179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3" y="44805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SensorECU  (STM32F446RE)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3" y="4846320"/>
            <a:ext cx="4206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Custom Bootloader · A/B Slot</a:t>
            </a:r>
          </a:p>
          <a:p>
            <a:pPr algn="l">
              <a:lnSpc>
                <a:spcPct val="105000"/>
              </a:lnSpc>
              <a:spcBef>
                <a:spcPts val="35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HC-SR04 장애물 감지 (10cm)</a:t>
            </a:r>
          </a:p>
          <a:p>
            <a:pPr algn="l">
              <a:lnSpc>
                <a:spcPct val="105000"/>
              </a:lnSpc>
              <a:spcBef>
                <a:spcPts val="35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거리값 송신 0x200</a:t>
            </a:r>
          </a:p>
          <a:p>
            <a:pPr algn="l">
              <a:lnSpc>
                <a:spcPct val="105000"/>
              </a:lnSpc>
              <a:spcBef>
                <a:spcPts val="35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Heartbeat 100ms 0x201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6016752"/>
            <a:ext cx="11055096" cy="365760"/>
          </a:xfrm>
          <a:prstGeom prst="roundRect">
            <a:avLst>
              <a:gd name="adj" fmla="val 2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6016752"/>
            <a:ext cx="11055096" cy="365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CAN ID 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0x7E0/0x7E8 Drive UDS   ·   0x7E1/0x7E9 Sensor UDS   ·   0x100 Drive 상태   ·   0x200 거리   ·   0x201 Heartbeat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03  FLASH PARTITION &amp; A/B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Flash 메모리맵 &amp; A/B 슬롯 안전 업데이트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04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STM32F446RE — 단일 Flash 논리 분할 (Dual-Bank 미지원)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92224"/>
            <a:ext cx="5852160" cy="365760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79222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1792224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179222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4416" y="179222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섹터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57984"/>
            <a:ext cx="58521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157984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0x08000000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136" y="2157984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Bootloader (WRP)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157984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32 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2157984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0–1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578608"/>
            <a:ext cx="5852160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578608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0x08008000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1136" y="2578608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Metadata Copy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2578608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16 KB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2578608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999232"/>
            <a:ext cx="58521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2999232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0x0800C000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31136" y="2999232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Metadata Copy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2999232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16 KB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2999232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419856"/>
            <a:ext cx="5852160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3419856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0x08010000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1136" y="3419856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Slot A Application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0016" y="3419856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192 KB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14416" y="3419856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4–5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40480"/>
            <a:ext cx="58521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3840480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0x08040000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31136" y="3840480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Slot B Application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0016" y="3840480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256 KB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14416" y="3840480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6–7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8" y="4261104"/>
            <a:ext cx="5852160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6928" y="4370832"/>
            <a:ext cx="56692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메타 이중화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섹터 2·3 redundant + CRC32 + seq, CRC를 마지막에 기록 → 원자적 commit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비활성 슬롯에만 기록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현재 CONFIRMED 슬롯은 검증 완료 전까지 유지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Bootloader WRP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부트로더·공개키·PSK 영역 하드웨어 쓰기 잠금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1792224"/>
            <a:ext cx="5129784" cy="384048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1792224"/>
            <a:ext cx="5129784" cy="38404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A/B 슬롯 5상태 생명주기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2340864"/>
            <a:ext cx="5129784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601968" y="2459736"/>
            <a:ext cx="201168" cy="219456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01968" y="2441448"/>
            <a:ext cx="25603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2340864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INVALID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유효 이미지 없음 / 불량 마킹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2761488"/>
            <a:ext cx="274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92240" y="2907792"/>
            <a:ext cx="5129784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601968" y="3026664"/>
            <a:ext cx="201168" cy="219456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01968" y="3008376"/>
            <a:ext cx="25603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7728" y="2907792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UPDATING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이미지 기록 중 (erase · write)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6832" y="3328416"/>
            <a:ext cx="274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2240" y="3474720"/>
            <a:ext cx="5129784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601968" y="3593592"/>
            <a:ext cx="201168" cy="219456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01968" y="3575304"/>
            <a:ext cx="25603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67728" y="34747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UPDATED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기록 완료 + 정적 검증 통과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6832" y="3895344"/>
            <a:ext cx="274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92240" y="4041648"/>
            <a:ext cx="5129784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01968" y="4160520"/>
            <a:ext cx="201168" cy="219456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601968" y="4142232"/>
            <a:ext cx="25603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67728" y="4041648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TRIAL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시험 부팅 (attempt+1 · self-test)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56832" y="4462272"/>
            <a:ext cx="274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92240" y="4608576"/>
            <a:ext cx="5129784" cy="457200"/>
          </a:xfrm>
          <a:prstGeom prst="roundRect">
            <a:avLst>
              <a:gd name="adj" fmla="val 12000"/>
            </a:avLst>
          </a:prstGeom>
          <a:solidFill>
            <a:srgbClr val="ECF4E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601968" y="4727448"/>
            <a:ext cx="201168" cy="21945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601968" y="4709160"/>
            <a:ext cx="25603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67728" y="4608576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CONFIRMED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self-test 통과 — known-good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92240" y="5175504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3-strike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TRIAL 부팅 3회 초과 → INVALID 마킹 후 이전 CONFIRMED 자동 롤백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04  CUSTOM SECURE BOOTLOADER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Custom Secure Bootloader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05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54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54480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554480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Reset / 전원 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1938528"/>
            <a:ext cx="0" cy="118872"/>
          </a:xfrm>
          <a:prstGeom prst="line">
            <a:avLst/>
          </a:prstGeom>
          <a:ln w="12700">
            <a:solidFill>
              <a:srgbClr val="C6D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6928" y="2057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057400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057400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Boot Metadata 확인 (magic · CRC32)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952" y="2441448"/>
            <a:ext cx="0" cy="118872"/>
          </a:xfrm>
          <a:prstGeom prst="line">
            <a:avLst/>
          </a:prstGeom>
          <a:ln w="12700">
            <a:solidFill>
              <a:srgbClr val="C6D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6928" y="2560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560320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560320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active / confirmed 슬롯 선택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8952" y="2944368"/>
            <a:ext cx="0" cy="118871"/>
          </a:xfrm>
          <a:prstGeom prst="line">
            <a:avLst/>
          </a:prstGeom>
          <a:ln w="12700">
            <a:solidFill>
              <a:srgbClr val="C6D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" y="306323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063239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063239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App 유효성 검사 (Stack Pointer 범위)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8952" y="3447287"/>
            <a:ext cx="0" cy="118872"/>
          </a:xfrm>
          <a:prstGeom prst="line">
            <a:avLst/>
          </a:prstGeom>
          <a:ln w="12700">
            <a:solidFill>
              <a:srgbClr val="C6D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6928" y="356615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566159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566159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ECDSA-P256 서명 검증 (SHA-256 해시)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8952" y="3950207"/>
            <a:ext cx="0" cy="118872"/>
          </a:xfrm>
          <a:prstGeom prst="line">
            <a:avLst/>
          </a:prstGeom>
          <a:ln w="12700">
            <a:solidFill>
              <a:srgbClr val="C6D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66928" y="406907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069079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069079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IWDG 워치독 시작 (8초)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8952" y="4453127"/>
            <a:ext cx="0" cy="118872"/>
          </a:xfrm>
          <a:prstGeom prst="line">
            <a:avLst/>
          </a:prstGeom>
          <a:ln w="12700">
            <a:solidFill>
              <a:srgbClr val="C6D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66928" y="457199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571999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571999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VTOR 재배치 → App Jump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120639"/>
            <a:ext cx="5669280" cy="603504"/>
          </a:xfrm>
          <a:prstGeom prst="roundRect">
            <a:avLst>
              <a:gd name="adj" fmla="val 8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120639"/>
            <a:ext cx="5669280" cy="603504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검증 실패 시 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→ 반대 슬롯 Fallback → 모두 무효 시 Safe State (모터 정지 · 재플래싱 대기)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1554480"/>
            <a:ext cx="5129784" cy="384048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1554480"/>
            <a:ext cx="5129784" cy="38404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신뢰성 · 보안 설계 포인트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2103120"/>
            <a:ext cx="5129784" cy="60350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2240" y="2103120"/>
            <a:ext cx="5129784" cy="6035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uECC 직접 포팅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secp256r1 ECDSA 검증을 HAL·표준 C만으로 부트로더에 내장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2784348"/>
            <a:ext cx="5129784" cy="60350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784348"/>
            <a:ext cx="5129784" cy="6035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Fail-closed 게이팅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메타 size 비정상 시 검증 우회를 차단(deny-by-default)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3465576"/>
            <a:ext cx="5129784" cy="60350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92240" y="3465576"/>
            <a:ext cx="5129784" cy="6035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자동 Fallback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서명·유효성 검증 실패 시 반대 CONFIRMED 슬롯으로 복구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0" y="4146804"/>
            <a:ext cx="5129784" cy="60350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92240" y="4146804"/>
            <a:ext cx="5129784" cy="6035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3-strike Rollback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점프 직전 attempt+1, 3회 초과 시 INVALID·롤백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4828032"/>
            <a:ext cx="5129784" cy="60350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4828032"/>
            <a:ext cx="5129784" cy="6035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IWDG 워치독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앱 무응답 시 리셋 → 부트로더 안전 복귀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0" y="5509260"/>
            <a:ext cx="5129784" cy="60350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92240" y="5509260"/>
            <a:ext cx="5129784" cy="6035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WRP 하드웨어 잠금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부트로더·키 영역을 Flash 쓰기보호로 변조 차단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05  OTA SECURITY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OTA 보안 설계 — 구현·검증된 다층 방어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06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554480"/>
            <a:ext cx="11055096" cy="38404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55448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보안 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1554480"/>
            <a:ext cx="39776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방어 기법 ·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856" y="1554480"/>
            <a:ext cx="2423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표준 근거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54896" y="1554480"/>
            <a:ext cx="2093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938528"/>
            <a:ext cx="11055096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193852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Secure Boot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193852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SHA-256 + ECDSA-P256 (uECC 직접 포팅)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6" y="193852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ISO 24089 · 신뢰사슬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193852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단위 + HIL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350008"/>
            <a:ext cx="11055096" cy="4114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235000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Anti-rollback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" y="235000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서명 헤더 fw_version ≥ CONFIRMED 기준선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235000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UNECE R155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35000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HIL TC-01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761488"/>
            <a:ext cx="11055096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276148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Fail-closed 게이팅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8336" y="276148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메타 size 비정상 → 검증 우회 차단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8856" y="276148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CWE-636 deny-by-default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276148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HIL TC-03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172968"/>
            <a:ext cx="11055096" cy="4114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317296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3-strike 롤백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8336" y="317296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시험부팅 3회 초과 → INVALID + 자동 롤백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8856" y="317296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ISO 24089 · FTTI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4896" y="317296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HIL TC-02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584448"/>
            <a:ext cx="11055096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358444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SecurityAccess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88336" y="358444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HMAC-SHA256(PSK,Seed) · 3회 실패→10s 잠금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8856" y="358444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ISO 14229 · RFC 2104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54896" y="358444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단위 + HIL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995928"/>
            <a:ext cx="11055096" cy="4114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" y="399592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메타 이중화 원자성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88336" y="399592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섹터 redundant + CRC32 + seq · ping-pong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48856" y="399592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AUTOSAR Fee/NvM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6" y="399592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407408"/>
            <a:ext cx="11055096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40740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ECU 식별 강제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8336" y="440740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target_ecu_id 불일치 이미지 거부 (NRC 0x31)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8856" y="440740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FR-CAN-011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54896" y="440740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66928" y="4818888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66928" y="5029200"/>
            <a:ext cx="11055096" cy="56692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6928" y="5029200"/>
            <a:ext cx="11055096" cy="56692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l">
              <a:lnSpc>
                <a:spcPct val="110000"/>
              </a:lnSpc>
            </a:pPr>
            <a:r>
              <a:rPr sz="98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키 관리   </a:t>
            </a:r>
            <a:r>
              <a:rPr sz="98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공개키 · PSK는 WRP 보호 부트로더 Flash에 저장 · ECDSA 개인키는 ECU에 부재, Jenkins Credentials로만 관리(평문 노출 없음).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5760720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범례  </a:t>
            </a:r>
            <a:r>
              <a:rPr sz="9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단위 + HIL</a:t>
            </a: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호스트 단위 + 실보드 검증   ·   </a:t>
            </a:r>
            <a:r>
              <a:rPr sz="9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호스트 단위 검증   ·   Replay·Uptane-lite 등 미구현 항목은 로드맵(p.14)에 명시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06  UDS over ISO-TP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UDS over ISO-TP — 차량 진단 리프로그래밍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07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프로토콜 스택  (C 직접 구현)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47088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84708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847088"/>
            <a:ext cx="1417320" cy="56692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847088"/>
            <a:ext cx="38862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0" tIns="0" bIns="0"/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진단 서비스   </a:t>
            </a:r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0x10 · 0x27 · 0x34 · 0x36 · 0x37 · 0x11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505456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505456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505456"/>
            <a:ext cx="1417320" cy="56692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ISO-TP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1408" y="2505456"/>
            <a:ext cx="38862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0" tIns="0" bIns="0"/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전송 계층   </a:t>
            </a:r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SF / FF / CF / FC · STmin · BlockSize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163824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163824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163824"/>
            <a:ext cx="1417320" cy="56692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CAN Classic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3163824"/>
            <a:ext cx="38862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0" tIns="0" bIns="0"/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데이터링크   </a:t>
            </a:r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500 kbps · 표준 11-bit ID · 8B payload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77055"/>
            <a:ext cx="5486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8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ISO-TP 수신 상태머신</a:t>
            </a:r>
            <a:r>
              <a:rPr sz="98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SF/FF/CF/FC 프레임 조립을 ECU 펌웨어에 SW 구현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98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인터럽트 안전성</a:t>
            </a:r>
            <a:r>
              <a:rPr sz="98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CAN ISR은 copy-only, UDS 처리는 메인 루프(동시성 분리)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98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블록 시퀀스 검증</a:t>
            </a:r>
            <a:r>
              <a:rPr sz="98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TransferData 순서 오류 시 NRC 0x73 반환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1481328"/>
            <a:ext cx="5266944" cy="365760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1481328"/>
            <a:ext cx="5266944" cy="365760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UDS 리프로그래밍 시퀀스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1956816"/>
            <a:ext cx="5266944" cy="475488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1956816"/>
            <a:ext cx="914400" cy="475488"/>
          </a:xfrm>
          <a:prstGeom prst="roundRect">
            <a:avLst>
              <a:gd name="adj" fmla="val 9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1956816"/>
            <a:ext cx="914400" cy="47548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1956816"/>
            <a:ext cx="411480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DiagnosticSessionControl</a:t>
            </a:r>
            <a:r>
              <a:rPr sz="919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Extended 세션 진입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2510028"/>
            <a:ext cx="5266944" cy="475488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2510028"/>
            <a:ext cx="914400" cy="475488"/>
          </a:xfrm>
          <a:prstGeom prst="roundRect">
            <a:avLst>
              <a:gd name="adj" fmla="val 9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2510028"/>
            <a:ext cx="914400" cy="47548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2510028"/>
            <a:ext cx="411480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SecurityAccess</a:t>
            </a:r>
            <a:r>
              <a:rPr sz="919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Seed / Key 인증 (HMAC)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063240"/>
            <a:ext cx="5266944" cy="475488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3063240"/>
            <a:ext cx="914400" cy="475488"/>
          </a:xfrm>
          <a:prstGeom prst="roundRect">
            <a:avLst>
              <a:gd name="adj" fmla="val 9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3063240"/>
            <a:ext cx="914400" cy="47548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0x34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3063240"/>
            <a:ext cx="411480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RequestDownload</a:t>
            </a:r>
            <a:r>
              <a:rPr sz="919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비활성 슬롯 선택 · Erase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3616452"/>
            <a:ext cx="5266944" cy="475488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55080" y="3616452"/>
            <a:ext cx="914400" cy="475488"/>
          </a:xfrm>
          <a:prstGeom prst="roundRect">
            <a:avLst>
              <a:gd name="adj" fmla="val 9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3616452"/>
            <a:ext cx="914400" cy="47548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0x36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3616452"/>
            <a:ext cx="411480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TransferData</a:t>
            </a:r>
            <a:r>
              <a:rPr sz="919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256 B/chunk 반복 기록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4169664"/>
            <a:ext cx="5266944" cy="475488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55080" y="4169664"/>
            <a:ext cx="914400" cy="475488"/>
          </a:xfrm>
          <a:prstGeom prst="roundRect">
            <a:avLst>
              <a:gd name="adj" fmla="val 9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5080" y="4169664"/>
            <a:ext cx="914400" cy="47548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0x37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4169664"/>
            <a:ext cx="411480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RequestTransferExit</a:t>
            </a:r>
            <a:r>
              <a:rPr sz="919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메타 갱신 · pending 세트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4722876"/>
            <a:ext cx="5266944" cy="475488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55080" y="4722876"/>
            <a:ext cx="914400" cy="475488"/>
          </a:xfrm>
          <a:prstGeom prst="roundRect">
            <a:avLst>
              <a:gd name="adj" fmla="val 9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55080" y="4722876"/>
            <a:ext cx="914400" cy="47548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06640" y="4722876"/>
            <a:ext cx="411480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ECUReset</a:t>
            </a:r>
            <a:r>
              <a:rPr sz="919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IDLE 진입 시 새 슬롯 부팅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80" y="5294376"/>
            <a:ext cx="5266944" cy="365760"/>
          </a:xfrm>
          <a:prstGeom prst="roundRect">
            <a:avLst>
              <a:gd name="adj" fmla="val 10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55080" y="5294376"/>
            <a:ext cx="5266944" cy="365760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주요 NRC   </a:t>
            </a:r>
            <a:r>
              <a:rPr sz="9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0x35 invalidKey · 0x31 범위초과 · 0x73 블록순서 · 0x36 시도초과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07  SAFETY · DELAYED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기능안전 — 지연 활성화 &amp; 센서 Fail-safe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08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0"/>
            <a:ext cx="11055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주행 중 다운로드는 허용하되, 펌웨어 활성화(재부팅)는 ECU가 IDLE일 때만 수행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— 주행 중 Flash 블로킹 위험을 원천 차단 (Uptane “안전조건 확인 후 설치” 원칙)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48840"/>
            <a:ext cx="2615184" cy="78638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148840"/>
            <a:ext cx="2615184" cy="91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148840"/>
            <a:ext cx="2615184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6243B"/>
                </a:solidFill>
                <a:latin typeface="Menlo"/>
                <a:ea typeface="Menlo"/>
                <a:cs typeface="Menlo"/>
              </a:rPr>
              <a:t>TransferExit (0x37)</a:t>
            </a:r>
          </a:p>
          <a:p>
            <a:pPr algn="ctr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메타 갱신 · active_slot 미변경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2148840"/>
            <a:ext cx="1981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0232" y="2148840"/>
            <a:ext cx="2615184" cy="78638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0232" y="2148840"/>
            <a:ext cx="2615184" cy="91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0232" y="2148840"/>
            <a:ext cx="2615184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6243B"/>
                </a:solidFill>
                <a:latin typeface="Menlo"/>
                <a:ea typeface="Menlo"/>
                <a:cs typeface="Menlo"/>
              </a:rPr>
              <a:t>g_fw_pending = 1</a:t>
            </a:r>
          </a:p>
          <a:p>
            <a:pPr algn="ctr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즉시 재부팅 안 함 · 주행 지속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5416" y="2148840"/>
            <a:ext cx="1981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3536" y="2148840"/>
            <a:ext cx="2615184" cy="78638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3536" y="2148840"/>
            <a:ext cx="2615184" cy="91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3536" y="2148840"/>
            <a:ext cx="2615184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6243B"/>
                </a:solidFill>
                <a:latin typeface="Menlo"/>
                <a:ea typeface="Menlo"/>
                <a:cs typeface="Menlo"/>
              </a:rPr>
              <a:t>DRIVE_IDLE</a:t>
            </a:r>
          </a:p>
          <a:p>
            <a:pPr algn="ctr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IDLE 진입 — 안전 조건 충족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8720" y="2148840"/>
            <a:ext cx="1981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148840"/>
            <a:ext cx="2615184" cy="78638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2148840"/>
            <a:ext cx="2615184" cy="91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2148840"/>
            <a:ext cx="2615184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6243B"/>
                </a:solidFill>
                <a:latin typeface="Menlo"/>
                <a:ea typeface="Menlo"/>
                <a:cs typeface="Menlo"/>
              </a:rPr>
              <a:t>NVIC_SystemReset()</a:t>
            </a:r>
          </a:p>
          <a:p>
            <a:pPr algn="ctr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부트로더 → 새 슬롯 부팅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246120"/>
            <a:ext cx="55778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Flash Erase 구간만 모터 정지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RequestDownload 처리 ~4초(g_ota_active)에만 정지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TransferData 중 주행 유지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drive_update() 제어 루프 ≤ 10ms 주기 정상 동작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장애물 10cm 즉시 정지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Sensor 0x200 거리값 → Drive 장애물 플래그 반영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200400"/>
            <a:ext cx="5221224" cy="1691640"/>
          </a:xfrm>
          <a:prstGeom prst="roundRect">
            <a:avLst>
              <a:gd name="adj" fmla="val 5000"/>
            </a:avLst>
          </a:prstGeom>
          <a:solidFill>
            <a:srgbClr val="ECF4EF"/>
          </a:solidFill>
          <a:ln w="12700">
            <a:solidFill>
              <a:srgbClr val="BF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331012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센서 staleness Fail-safe</a:t>
            </a: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ISO 26262 안전상태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3639312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CAN 0x200 수신 타임아웃(150ms) 또는 미수신 시 </a:t>
            </a: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force_stop + IDLE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로 전이 → 센서가 침묵해도 차량이 안전상태로 정지.</a:t>
            </a:r>
          </a:p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on-target </a:t>
            </a: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HIL TC-04 PASS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— 센서 분리 후 ~150ms 내 자동 정지 실증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138928"/>
            <a:ext cx="11055096" cy="640080"/>
          </a:xfrm>
          <a:prstGeom prst="roundRect">
            <a:avLst>
              <a:gd name="adj" fmla="val 5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138928"/>
            <a:ext cx="11055096" cy="640080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Safe State 정의   </a:t>
            </a:r>
            <a:r>
              <a:rPr sz="105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모터 정지  +  부트로더 대기  +  기존 CONFIRMED Slot 유지</a:t>
            </a:r>
            <a:r>
              <a:rPr sz="95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   —  업데이트 실패·검증 오류·통신 중단·워치독 리셋 등 모든 비정상 상황에서 진입 (ISO 26262 FTTI · NFR-SAFE)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08  DEEP-DIVE · LOW-LEVEL DEBUG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저수준 펌웨어 디버깅 — VTOR / PRIMASK / IWDG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09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81328"/>
            <a:ext cx="11055096" cy="566928"/>
          </a:xfrm>
          <a:prstGeom prst="roundRect">
            <a:avLst>
              <a:gd name="adj" fmla="val 5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81328"/>
            <a:ext cx="11055096" cy="566928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증상   </a:t>
            </a: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부트로더 연동 후 DriveECU의 CAN · TIM2 인터럽트 완전 불능 — LD2 미점등, OTA 타임아웃 (main()은 실행, 인터럽트만 차단)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240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진단 — 계측 기반 근본원인 추적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15184"/>
            <a:ext cx="5486400" cy="676656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615184"/>
            <a:ext cx="5486400" cy="67665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0" bIns="0"/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  </a:t>
            </a: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CAN 버스 모니터링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0x201(Sensor) 정상 · 0x100(Drive) 부재 → Drive만 TX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38144"/>
            <a:ext cx="5486400" cy="676656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438144"/>
            <a:ext cx="5486400" cy="67665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0" bIns="0"/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2  </a:t>
            </a: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ST-LINK 콜스택 추적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TIM2 IRQ가 앱 핸들러 대신 부트로더 영역(0x08000D18)으로 점프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61104"/>
            <a:ext cx="5486400" cy="676656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61104"/>
            <a:ext cx="5486400" cy="67665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0" bIns="0"/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3  </a:t>
            </a: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레지스터 확인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VTOR이 0x08000000(부트로더 벡터테이블)을 가리킴을 발견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2402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근본 원인 — 3중 결함 (순차 발견)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615184"/>
            <a:ext cx="5312664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615184"/>
            <a:ext cx="5312664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0" bIns="0"/>
          <a:lstStyle/>
          <a:p>
            <a:pPr algn="l">
              <a:spcAft>
                <a:spcPts val="200"/>
              </a:spcAft>
            </a:pPr>
            <a:r>
              <a:rPr sz="1030" b="1" i="0">
                <a:solidFill>
                  <a:srgbClr val="B5432F"/>
                </a:solidFill>
                <a:latin typeface="Apple SD Gothic Neo"/>
                <a:ea typeface="Apple SD Gothic Neo"/>
                <a:cs typeface="Apple SD Gothic Neo"/>
              </a:rPr>
              <a:t>① VTOR 오설정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VECT_TAB_OFFSET 기본값 0 → SystemInit이 VTOR을 부트로더로 설정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438144"/>
            <a:ext cx="5312664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438144"/>
            <a:ext cx="5312664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0" bIns="0"/>
          <a:lstStyle/>
          <a:p>
            <a:pPr algn="l">
              <a:spcAft>
                <a:spcPts val="200"/>
              </a:spcAft>
            </a:pPr>
            <a:r>
              <a:rPr sz="1030" b="1" i="0">
                <a:solidFill>
                  <a:srgbClr val="B5432F"/>
                </a:solidFill>
                <a:latin typeface="Apple SD Gothic Neo"/>
                <a:ea typeface="Apple SD Gothic Neo"/>
                <a:cs typeface="Apple SD Gothic Neo"/>
              </a:rPr>
              <a:t>② IWDG 미복원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디버깅 중 주석 처리 → 앱이 kick 못 함 → 8초 리셋 루프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61104"/>
            <a:ext cx="5312664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261104"/>
            <a:ext cx="5312664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0" bIns="0"/>
          <a:lstStyle/>
          <a:p>
            <a:pPr algn="l">
              <a:spcAft>
                <a:spcPts val="200"/>
              </a:spcAft>
            </a:pPr>
            <a:r>
              <a:rPr sz="1030" b="1" i="0">
                <a:solidFill>
                  <a:srgbClr val="B5432F"/>
                </a:solidFill>
                <a:latin typeface="Apple SD Gothic Neo"/>
                <a:ea typeface="Apple SD Gothic Neo"/>
                <a:cs typeface="Apple SD Gothic Neo"/>
              </a:rPr>
              <a:t>③ PRIMASK 미복원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부트로더 __disable_irq() 후 점프, 앱에서 재활성화 누락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285232"/>
            <a:ext cx="11055096" cy="658368"/>
          </a:xfrm>
          <a:prstGeom prst="roundRect">
            <a:avLst>
              <a:gd name="adj" fmla="val 5000"/>
            </a:avLst>
          </a:prstGeom>
          <a:solidFill>
            <a:srgbClr val="ECF4EF"/>
          </a:solidFill>
          <a:ln w="12700">
            <a:solidFill>
              <a:srgbClr val="BF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285232"/>
            <a:ext cx="11055096" cy="658368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해결   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main() 진입 시 __enable_irq() 복원   ·   SCB-&gt;VTOR = &amp;g_pfnVectors (링커 심볼 → 슬롯 무관)   ·   MX_IWDG_Init() 복원</a:t>
            </a: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→  오실로스코프·ST-LINK로 PRIMASK=0 및 0x100 송신 재검증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09 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검증 — 호스트 단위 + on-target 실증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10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17904"/>
            <a:ext cx="5394960" cy="420624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17904"/>
            <a:ext cx="5394960" cy="420624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① 호스트 단위 테스트</a:t>
            </a:r>
            <a:r>
              <a:rPr sz="900" b="0" i="0">
                <a:solidFill>
                  <a:srgbClr val="AFC8D6"/>
                </a:solidFill>
                <a:latin typeface="Menlo"/>
                <a:ea typeface="Menlo"/>
                <a:cs typeface="Menlo"/>
              </a:rPr>
              <a:t>   ceedling gcov:all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029968"/>
            <a:ext cx="5394960" cy="347472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029968"/>
            <a:ext cx="3108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테스트 파일 (순수 코어)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2029968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케이스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02996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377440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377440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test_anti_rollback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6" y="2377440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2377440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706624"/>
            <a:ext cx="5394960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2706624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test_bootloader_slot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8496" y="2706624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2896" y="2706624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035808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035808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test_hmac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8496" y="3035808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2896" y="3035808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364991"/>
            <a:ext cx="5394960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364991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test_meta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8496" y="3364991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2896" y="3364991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694176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3694176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test_meta_lifecycle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8496" y="3694176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6" y="3694176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023360"/>
            <a:ext cx="5394960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4023360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test_ota_meta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8496" y="4023360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82896" y="4023360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352544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" y="4352544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test_uds_state  (음성 포함)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68496" y="4352544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82896" y="4352544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681728"/>
            <a:ext cx="5394960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" y="4681728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합계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68496" y="4681728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78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2896" y="4681728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66928" y="5010912"/>
            <a:ext cx="5394960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66928" y="4983480"/>
            <a:ext cx="5394960" cy="8686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4983480"/>
            <a:ext cx="5394960" cy="8686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커버리지 </a:t>
            </a:r>
            <a:r>
              <a:rPr sz="1000" b="1" i="0">
                <a:solidFill>
                  <a:srgbClr val="245A74"/>
                </a:solidFill>
                <a:latin typeface="Apple SD Gothic Neo"/>
                <a:ea typeface="Apple SD Gothic Neo"/>
                <a:cs typeface="Apple SD Gothic Neo"/>
              </a:rPr>
              <a:t>라인 91% · 분기 79%</a:t>
            </a: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(strict: taken-at-least-once)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HAL과 분리한 순수 코어(메타 상태머신·anti-rollback·검증게이팅·crypto)를 양성 + 음성(거부 경로) 테스트로 검증.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1517904"/>
            <a:ext cx="5404104" cy="420624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1517904"/>
            <a:ext cx="5404104" cy="420624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② on-target 벤치 실증</a:t>
            </a:r>
            <a:r>
              <a:rPr sz="900" b="0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   HIL-001 · 실 ECU 2대·실 CAN·실 OTA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2029968"/>
            <a:ext cx="5404104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217920" y="2029968"/>
            <a:ext cx="822960" cy="676656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17920" y="2029968"/>
            <a:ext cx="822960" cy="6766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TC-01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78040" y="2029968"/>
            <a:ext cx="434340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anti-rollback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옛 버전(v1) OTA → 거부 + v2 자동 복귀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2779776"/>
            <a:ext cx="5404104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17920" y="2779776"/>
            <a:ext cx="822960" cy="676656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0" y="2779776"/>
            <a:ext cx="822960" cy="6766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TC-02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78040" y="2779776"/>
            <a:ext cx="434340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3-strike 롤백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고장 업데이트 → 3회 시도 후 자동 롤백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3529584"/>
            <a:ext cx="5404104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217920" y="3529584"/>
            <a:ext cx="822960" cy="676656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17920" y="3529584"/>
            <a:ext cx="822960" cy="6766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TC-03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78040" y="3529584"/>
            <a:ext cx="434340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fail-closed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size=0 위조 메타 → 서명검증 우회 차단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4279392"/>
            <a:ext cx="5404104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217920" y="4279392"/>
            <a:ext cx="822960" cy="676656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17920" y="4279392"/>
            <a:ext cx="822960" cy="6766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TC-04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78040" y="4279392"/>
            <a:ext cx="434340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센서 staleness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센서 침묵 → ~150ms 내 fail-safe 정지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5029200"/>
            <a:ext cx="5404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9" b="0" i="1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실물 on-target 벤치 — plant를 실시간 시뮬레이션하는 엄밀한 HIL과는 구분.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10  CI / CD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Jenkins CI/CD — CI와 배포 분리 + 승인 게이트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11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0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git push = CI(검증)만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수행 · 차량 배포는 분리 — 태그 릴리스(vN) + 명시적 배포 승인 게이트 후에만 OTA 전송 (blast-radius 최소화)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011680"/>
            <a:ext cx="11055096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011680"/>
            <a:ext cx="11055096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0" tIns="0" bIns="0"/>
          <a:lstStyle/>
          <a:p>
            <a:pPr algn="l"/>
            <a:r>
              <a:rPr sz="1000" b="1" i="0">
                <a:solidFill>
                  <a:srgbClr val="245A74"/>
                </a:solidFill>
                <a:latin typeface="Apple SD Gothic Neo"/>
                <a:ea typeface="Apple SD Gothic Neo"/>
                <a:cs typeface="Apple SD Gothic Neo"/>
              </a:rPr>
              <a:t>CI  —  모든 git push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450592"/>
            <a:ext cx="3566160" cy="6766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450592"/>
            <a:ext cx="420624" cy="676656"/>
          </a:xfrm>
          <a:prstGeom prst="roundRect">
            <a:avLst>
              <a:gd name="adj" fmla="val 7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450592"/>
            <a:ext cx="420624" cy="67665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" y="2450592"/>
            <a:ext cx="301752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단위 테스트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ceedling test:all · 실패 시 차단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2450592"/>
            <a:ext cx="17830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1396" y="2450592"/>
            <a:ext cx="3566160" cy="6766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11396" y="2450592"/>
            <a:ext cx="420624" cy="676656"/>
          </a:xfrm>
          <a:prstGeom prst="roundRect">
            <a:avLst>
              <a:gd name="adj" fmla="val 7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1396" y="2450592"/>
            <a:ext cx="420624" cy="67665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14316" y="2450592"/>
            <a:ext cx="301752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정적 분석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cppcheck · error 이상 중단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7556" y="2450592"/>
            <a:ext cx="17830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5864" y="2450592"/>
            <a:ext cx="3566160" cy="6766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55864" y="2450592"/>
            <a:ext cx="420624" cy="676656"/>
          </a:xfrm>
          <a:prstGeom prst="roundRect">
            <a:avLst>
              <a:gd name="adj" fmla="val 7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55864" y="2450592"/>
            <a:ext cx="420624" cy="67665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58784" y="2450592"/>
            <a:ext cx="301752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컴파일 검증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변경 ECU만 · 슬롯별 링커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401568"/>
            <a:ext cx="11055096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401568"/>
            <a:ext cx="11055096" cy="329184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0" tIns="0" bIns="0"/>
          <a:lstStyle/>
          <a:p>
            <a:pPr algn="l"/>
            <a:r>
              <a:rPr sz="100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릴리스 · 배포  —  태그 vN 에서만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40480"/>
            <a:ext cx="3566160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3840480"/>
            <a:ext cx="420624" cy="713232"/>
          </a:xfrm>
          <a:prstGeom prst="roundRect">
            <a:avLst>
              <a:gd name="adj" fmla="val 7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840480"/>
            <a:ext cx="420624" cy="71323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9848" y="3840480"/>
            <a:ext cx="301752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빌드 + 서명</a:t>
            </a:r>
          </a:p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슬롯별 크로스컴파일 · 크기검사 · ECDSA(ver=N)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7" y="3840480"/>
            <a:ext cx="1783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1396" y="3840480"/>
            <a:ext cx="3566160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11396" y="3840480"/>
            <a:ext cx="420624" cy="713232"/>
          </a:xfrm>
          <a:prstGeom prst="roundRect">
            <a:avLst>
              <a:gd name="adj" fmla="val 7000"/>
            </a:avLst>
          </a:prstGeom>
          <a:solidFill>
            <a:srgbClr val="A8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11396" y="3840480"/>
            <a:ext cx="420624" cy="713232"/>
          </a:xfrm>
          <a:prstGeom prst="rect">
            <a:avLst/>
          </a:prstGeom>
          <a:solidFill>
            <a:srgbClr val="A8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14316" y="3840480"/>
            <a:ext cx="301752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★ 배포 승인 게이트</a:t>
            </a:r>
          </a:p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Jenkins input — 승인자 기록 (UN R156 SUMS)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7556" y="3840480"/>
            <a:ext cx="1783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55864" y="3840480"/>
            <a:ext cx="3566160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55864" y="3840480"/>
            <a:ext cx="420624" cy="713232"/>
          </a:xfrm>
          <a:prstGeom prst="roundRect">
            <a:avLst>
              <a:gd name="adj" fmla="val 7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55864" y="3840480"/>
            <a:ext cx="420624" cy="7132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58784" y="3840480"/>
            <a:ext cx="301752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OTA 배포 &amp; 검증</a:t>
            </a:r>
          </a:p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ECU IDLE 확인 → UDS 전송 → heartbeat 슬롯전환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846320"/>
            <a:ext cx="11055096" cy="960120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4846320"/>
            <a:ext cx="11055096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설계 근거 (ADR-008)</a:t>
            </a:r>
          </a:p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“push = 배포”의 위험을 차단하기 위해 CI 빌드와 차량 배포를 분리하고 승인 게이트를 도입. UN R156 SUMS의 배포 승인과 Uptane의 Image / Director 역할 분리를 미니어처로 구현해, Gateway 단독 변조만으로는 차량에 펌웨어가 나가지 않도록 설계.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11  PROCESS &amp;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개발 프로세스 &amp; 추적성 (ASPICE 참고)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12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요구사항 → 설계 → 구현 → 테스트 → 트러블슈팅 양방향 추적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74519"/>
            <a:ext cx="1720596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874519"/>
            <a:ext cx="1720596" cy="8229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874519"/>
            <a:ext cx="1720596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SRS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요구사항</a:t>
            </a:r>
          </a:p>
          <a:p>
            <a:pPr algn="ctr"/>
            <a:r>
              <a:rPr sz="8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SWE.1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33828" y="1874519"/>
            <a:ext cx="1720596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3828" y="1874519"/>
            <a:ext cx="1720596" cy="8229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3828" y="1874519"/>
            <a:ext cx="1720596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SDD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아키텍처·상세설계</a:t>
            </a:r>
          </a:p>
          <a:p>
            <a:pPr algn="ctr"/>
            <a:r>
              <a:rPr sz="8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SWE.2/3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0728" y="1874519"/>
            <a:ext cx="1720596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0728" y="1874519"/>
            <a:ext cx="1720596" cy="8229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0728" y="1874519"/>
            <a:ext cx="1720596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HARA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위험원 분석</a:t>
            </a:r>
          </a:p>
          <a:p>
            <a:pPr algn="ctr"/>
            <a:r>
              <a:rPr sz="8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ISO 26262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7627" y="1874519"/>
            <a:ext cx="1720596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7627" y="1874519"/>
            <a:ext cx="1720596" cy="8229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7627" y="1874519"/>
            <a:ext cx="1720596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TARA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위협 분석</a:t>
            </a:r>
          </a:p>
          <a:p>
            <a:pPr algn="ctr"/>
            <a:r>
              <a:rPr sz="8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ISO 21434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4527" y="1874519"/>
            <a:ext cx="1720596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34527" y="1874519"/>
            <a:ext cx="1720596" cy="8229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4527" y="1874519"/>
            <a:ext cx="1720596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HIL / TR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테스트 계획·결과</a:t>
            </a:r>
          </a:p>
          <a:p>
            <a:pPr algn="ctr"/>
            <a:r>
              <a:rPr sz="8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SWE.5/6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1427" y="1874519"/>
            <a:ext cx="1720596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01427" y="1874519"/>
            <a:ext cx="1720596" cy="8229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01427" y="1874519"/>
            <a:ext cx="1720596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8D ×10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트러블슈팅</a:t>
            </a:r>
          </a:p>
          <a:p>
            <a:pPr algn="ctr"/>
            <a:r>
              <a:rPr sz="8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SUP.9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71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주요 설계 의사결정 — ADR ×9 (MADR)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310128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310128"/>
            <a:ext cx="54864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0" tIns="0" bIns="0"/>
          <a:lstStyle/>
          <a:p>
            <a:pPr algn="l"/>
            <a:r>
              <a:rPr sz="980" b="1" i="0">
                <a:solidFill>
                  <a:srgbClr val="245A74"/>
                </a:solidFill>
                <a:latin typeface="Menlo"/>
                <a:ea typeface="Menlo"/>
                <a:cs typeface="Menlo"/>
              </a:rPr>
              <a:t>ADR-001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OTA 활성화 아키텍처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803904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803904"/>
            <a:ext cx="54864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0" tIns="0" bIns="0"/>
          <a:lstStyle/>
          <a:p>
            <a:pPr algn="l"/>
            <a:r>
              <a:rPr sz="980" b="1" i="0">
                <a:solidFill>
                  <a:srgbClr val="245A74"/>
                </a:solidFill>
                <a:latin typeface="Menlo"/>
                <a:ea typeface="Menlo"/>
                <a:cs typeface="Menlo"/>
              </a:rPr>
              <a:t>ADR-006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Secure Element(ATECC608A) 도입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29768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297680"/>
            <a:ext cx="54864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0" tIns="0" bIns="0"/>
          <a:lstStyle/>
          <a:p>
            <a:pPr algn="l"/>
            <a:r>
              <a:rPr sz="980" b="1" i="0">
                <a:solidFill>
                  <a:srgbClr val="245A74"/>
                </a:solidFill>
                <a:latin typeface="Menlo"/>
                <a:ea typeface="Menlo"/>
                <a:cs typeface="Menlo"/>
              </a:rPr>
              <a:t>ADR-007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Anti-rollback 설계(서명헤더+메타)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791456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791456"/>
            <a:ext cx="54864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0" tIns="0" bIns="0"/>
          <a:lstStyle/>
          <a:p>
            <a:pPr algn="l"/>
            <a:r>
              <a:rPr sz="980" b="1" i="0">
                <a:solidFill>
                  <a:srgbClr val="245A74"/>
                </a:solidFill>
                <a:latin typeface="Menlo"/>
                <a:ea typeface="Menlo"/>
                <a:cs typeface="Menlo"/>
              </a:rPr>
              <a:t>ADR-008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CI 빌드 / 차량 배포 분리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285232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5285232"/>
            <a:ext cx="54864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0" tIns="0" bIns="0"/>
          <a:lstStyle/>
          <a:p>
            <a:pPr algn="l"/>
            <a:r>
              <a:rPr sz="980" b="1" i="0">
                <a:solidFill>
                  <a:srgbClr val="245A74"/>
                </a:solidFill>
                <a:latin typeface="Menlo"/>
                <a:ea typeface="Menlo"/>
                <a:cs typeface="Menlo"/>
              </a:rPr>
              <a:t>ADR-009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ECU 식별 강제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7972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9" b="0" i="1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한계를 ADR로 박제하고 후속 해소 경로(Secure Element)를 제시 — 엔지니어링 정직성·로드맵 사고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3017520"/>
            <a:ext cx="5266944" cy="2834640"/>
          </a:xfrm>
          <a:prstGeom prst="roundRect">
            <a:avLst>
              <a:gd name="adj" fmla="val 4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2004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표준 · 규격 근거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61188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ISO 14229 (UDS)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61188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ISO 15765-2 (ISO-TP)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032504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ISO 24089 (SW Update)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032504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ISO 26262 (기능안전·FTTI)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453128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ISO/SAE 21434 (사이버보안)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453128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UNECE R155 / R156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873752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AUTOSAR UCM / Fee / NvM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4873752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Uptane (IEEE-ISTO 6100)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5294376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RFC 2104 (HMAC) · CWE-636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12  HARDWARE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실증 플랫폼 &amp; 시연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13 / 15</a:t>
            </a:r>
          </a:p>
        </p:txBody>
      </p:sp>
      <p:pic>
        <p:nvPicPr>
          <p:cNvPr id="11" name="Picture 10" descr="hw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5120640" cy="3063240"/>
          </a:xfrm>
          <a:prstGeom prst="rect">
            <a:avLst/>
          </a:prstGeom>
          <a:ln w="12700">
            <a:solidFill>
              <a:srgbClr val="C6D0D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66928" y="462686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측면 — CANable · RPi5 Gateway · STM32 Dual ECU · 전원</a:t>
            </a:r>
          </a:p>
        </p:txBody>
      </p:sp>
      <p:pic>
        <p:nvPicPr>
          <p:cNvPr id="13" name="Picture 12" descr="hw_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517904"/>
            <a:ext cx="2487168" cy="1481328"/>
          </a:xfrm>
          <a:prstGeom prst="rect">
            <a:avLst/>
          </a:prstGeom>
          <a:ln w="12700">
            <a:solidFill>
              <a:srgbClr val="C6D0DC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870448" y="3035808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상면 — Gateway + Dual ECU + 브레드보드</a:t>
            </a:r>
          </a:p>
        </p:txBody>
      </p:sp>
      <p:pic>
        <p:nvPicPr>
          <p:cNvPr id="15" name="Picture 14" descr="hw_fro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1517904"/>
            <a:ext cx="2487168" cy="1481328"/>
          </a:xfrm>
          <a:prstGeom prst="rect">
            <a:avLst/>
          </a:prstGeom>
          <a:ln w="12700">
            <a:solidFill>
              <a:srgbClr val="C6D0DC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8522208" y="30358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정면 — 2WD 차체 + HC-SR04 센서</a:t>
            </a:r>
          </a:p>
        </p:txBody>
      </p:sp>
      <p:pic>
        <p:nvPicPr>
          <p:cNvPr id="17" name="Picture 16" descr="hw_os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3346704"/>
            <a:ext cx="2487168" cy="1481328"/>
          </a:xfrm>
          <a:prstGeom prst="rect">
            <a:avLst/>
          </a:prstGeom>
          <a:ln w="12700">
            <a:solidFill>
              <a:srgbClr val="C6D0D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870448" y="4864608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RIGOL DHO804 — CANH/CANL 계측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22208" y="3346704"/>
            <a:ext cx="3099816" cy="1481328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34564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시연 · 소스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767328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45A74"/>
                </a:solidFill>
                <a:latin typeface="Apple SD Gothic Neo"/>
                <a:ea typeface="Apple SD Gothic Neo"/>
                <a:cs typeface="Apple SD Gothic Neo"/>
              </a:rPr>
              <a:t>▶ 시연 영상</a:t>
            </a:r>
            <a:r>
              <a:rPr sz="8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App v1→v2 OTA 무중단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  <a:hlinkClick r:id="rId6"/>
              </a:rPr>
              <a:t>youtu.be/_RbVwU_nPHI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45A74"/>
                </a:solidFill>
                <a:latin typeface="Apple SD Gothic Neo"/>
                <a:ea typeface="Apple SD Gothic Neo"/>
                <a:cs typeface="Apple SD Gothic Neo"/>
              </a:rPr>
              <a:t>GitHub</a:t>
            </a:r>
            <a:r>
              <a:rPr sz="8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전체 코드·문서</a:t>
            </a:r>
          </a:p>
          <a:p>
            <a:pPr algn="l"/>
            <a:r>
              <a:rPr sz="90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  <a:hlinkClick r:id="rId7"/>
              </a:rPr>
              <a:t>github.com/JaehyeongIm/…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38928"/>
            <a:ext cx="11055096" cy="658368"/>
          </a:xfrm>
          <a:prstGeom prst="roundRect">
            <a:avLst>
              <a:gd name="adj" fmla="val 5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138928"/>
            <a:ext cx="11055096" cy="658368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하드웨어   </a:t>
            </a:r>
            <a:r>
              <a:rPr sz="95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Raspberry Pi 5 · STM32F446RE ×2 · SN65HVD230 CAN Transceiver · CANable(USB-CAN) · TB6612FNG 모터드라이버 · HC-SR04 초음파센서 · 2WD RC 차체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13  LIMITATIONS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한계 · 잔여 위험 · 향후 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14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한계 (명시적 인정)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28800"/>
            <a:ext cx="5486400" cy="676656"/>
          </a:xfrm>
          <a:prstGeom prst="roundRect">
            <a:avLst>
              <a:gd name="adj" fmla="val 7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828800"/>
            <a:ext cx="5486400" cy="676656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8A571F"/>
                </a:solidFill>
                <a:latin typeface="Apple SD Gothic Neo"/>
                <a:ea typeface="Apple SD Gothic Neo"/>
                <a:cs typeface="Apple SD Gothic Neo"/>
              </a:rPr>
              <a:t>SecurityAccess Seed 엔트로피 약함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F446 무 TRNG · SW nonce (SP 800-90 미준수)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87752"/>
            <a:ext cx="5486400" cy="676656"/>
          </a:xfrm>
          <a:prstGeom prst="roundRect">
            <a:avLst>
              <a:gd name="adj" fmla="val 7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587752"/>
            <a:ext cx="5486400" cy="676656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8A571F"/>
                </a:solidFill>
                <a:latin typeface="Apple SD Gothic Neo"/>
                <a:ea typeface="Apple SD Gothic Neo"/>
                <a:cs typeface="Apple SD Gothic Neo"/>
              </a:rPr>
              <a:t>잠금 상태 RAM 기반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전원 리셋으로 해제 가능 (NV 미적용)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46704"/>
            <a:ext cx="5486400" cy="676656"/>
          </a:xfrm>
          <a:prstGeom prst="roundRect">
            <a:avLst>
              <a:gd name="adj" fmla="val 7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346704"/>
            <a:ext cx="5486400" cy="676656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8A571F"/>
                </a:solidFill>
                <a:latin typeface="Apple SD Gothic Neo"/>
                <a:ea typeface="Apple SD Gothic Neo"/>
                <a:cs typeface="Apple SD Gothic Neo"/>
              </a:rPr>
              <a:t>anti-rollback 기준선 = CRC 메타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물리 공격엔 한계 (정석은 Secure Element)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105656"/>
            <a:ext cx="5486400" cy="676656"/>
          </a:xfrm>
          <a:prstGeom prst="roundRect">
            <a:avLst>
              <a:gd name="adj" fmla="val 7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105656"/>
            <a:ext cx="5486400" cy="676656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8A571F"/>
                </a:solidFill>
                <a:latin typeface="Apple SD Gothic Neo"/>
                <a:ea typeface="Apple SD Gothic Neo"/>
                <a:cs typeface="Apple SD Gothic Neo"/>
              </a:rPr>
              <a:t>직진 주행 미보장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실행마다 좌·우 불규칙 · PWM/기구 원인 미파악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4813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향후 과제 · 해소 경로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828800"/>
            <a:ext cx="5266944" cy="603504"/>
          </a:xfrm>
          <a:prstGeom prst="roundRect">
            <a:avLst>
              <a:gd name="adj" fmla="val 7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828800"/>
            <a:ext cx="5266944" cy="603504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1030" b="1" i="0">
                <a:solidFill>
                  <a:srgbClr val="1F5A40"/>
                </a:solidFill>
                <a:latin typeface="Apple SD Gothic Neo"/>
                <a:ea typeface="Apple SD Gothic Neo"/>
                <a:cs typeface="Apple SD Gothic Neo"/>
              </a:rPr>
              <a:t>Secure Element 도입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ATECC608A — TRNG · monotonic counter · NV (HW 입고 중)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510028"/>
            <a:ext cx="5266944" cy="603504"/>
          </a:xfrm>
          <a:prstGeom prst="roundRect">
            <a:avLst>
              <a:gd name="adj" fmla="val 7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510028"/>
            <a:ext cx="5266944" cy="603504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1030" b="1" i="0">
                <a:solidFill>
                  <a:srgbClr val="1F5A40"/>
                </a:solidFill>
                <a:latin typeface="Apple SD Gothic Neo"/>
                <a:ea typeface="Apple SD Gothic Neo"/>
                <a:cs typeface="Apple SD Gothic Neo"/>
              </a:rPr>
              <a:t>Replay 방어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Session / Sequence / Freshness (FR-CAN-017)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191256"/>
            <a:ext cx="5266944" cy="603504"/>
          </a:xfrm>
          <a:prstGeom prst="roundRect">
            <a:avLst>
              <a:gd name="adj" fmla="val 7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191256"/>
            <a:ext cx="5266944" cy="603504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1030" b="1" i="0">
                <a:solidFill>
                  <a:srgbClr val="1F5A40"/>
                </a:solidFill>
                <a:latin typeface="Apple SD Gothic Neo"/>
                <a:ea typeface="Apple SD Gothic Neo"/>
                <a:cs typeface="Apple SD Gothic Neo"/>
              </a:rPr>
              <a:t>Uptane-lite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Manifest 독립 검증 · ECU Inventory · Campaign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872484"/>
            <a:ext cx="5266944" cy="603504"/>
          </a:xfrm>
          <a:prstGeom prst="roundRect">
            <a:avLst>
              <a:gd name="adj" fmla="val 7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872484"/>
            <a:ext cx="5266944" cy="603504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1030" b="1" i="0">
                <a:solidFill>
                  <a:srgbClr val="1F5A40"/>
                </a:solidFill>
                <a:latin typeface="Apple SD Gothic Neo"/>
                <a:ea typeface="Apple SD Gothic Neo"/>
                <a:cs typeface="Apple SD Gothic Neo"/>
              </a:rPr>
              <a:t>잠금 상태 NV 지속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리셋 우회 차단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553712"/>
            <a:ext cx="5266944" cy="603504"/>
          </a:xfrm>
          <a:prstGeom prst="roundRect">
            <a:avLst>
              <a:gd name="adj" fmla="val 7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553712"/>
            <a:ext cx="5266944" cy="603504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1030" b="1" i="0">
                <a:solidFill>
                  <a:srgbClr val="1F5A40"/>
                </a:solidFill>
                <a:latin typeface="Apple SD Gothic Neo"/>
                <a:ea typeface="Apple SD Gothic Neo"/>
                <a:cs typeface="Apple SD Gothic Neo"/>
              </a:rPr>
              <a:t>차량용 MCU 포팅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AURIX · S32K — Delta Update로 전송 최적화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175504"/>
            <a:ext cx="11055096" cy="640080"/>
          </a:xfrm>
          <a:prstGeom prst="roundRect">
            <a:avLst>
              <a:gd name="adj" fmla="val 5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175504"/>
            <a:ext cx="11055096" cy="640080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한계를 숨기지 않고 ADR로 박제</a:t>
            </a:r>
            <a:r>
              <a:rPr sz="100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하고 후속 해소 트리거(ATECC608A 입고 등)를 SRS §19.1 잔여위험 레지스터로 통합 관리 — 과대 주장 없이 정직하게, 개선 경로는 구체적으로.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0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SUMMARY  ·  CORE COMPETENCIES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0241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확보한 핵심 역량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27632"/>
            <a:ext cx="210312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65960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965960"/>
            <a:ext cx="73152" cy="107899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965960"/>
            <a:ext cx="5257800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 tIns="0" bIns="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펌웨어 · 부트로더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Custom Secure Boot · A/B Slot · VTOR / IWDG / PRIMASK · Flash 파티션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965960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965960"/>
            <a:ext cx="73152" cy="107899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65960"/>
            <a:ext cx="5257800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 tIns="0" bIns="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보안 · 암호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ECDSA-P256 · SHA-256 · HMAC · Anti-rollback · 위협 모델링(TARA)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227832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227832"/>
            <a:ext cx="73152" cy="107899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227832"/>
            <a:ext cx="5257800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 tIns="0" bIns="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차량 네트워크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CAN · ISO-TP(SF/FF/CF/FC) · UDS 리프로그래밍 · NRC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227832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3227832"/>
            <a:ext cx="73152" cy="107899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227832"/>
            <a:ext cx="5257800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 tIns="0" bIns="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디버깅 · 계측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ST-LINK · 오실로스코프 · 콜스택 추적 · 근본원인 분석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89704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489704"/>
            <a:ext cx="73152" cy="107899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489704"/>
            <a:ext cx="5257800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 tIns="0" bIns="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테스트 · CI/CD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Ceedling / Unity / CMock · gcov · cppcheck · Jenkins · 크로스컴파일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489704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6520" y="4489704"/>
            <a:ext cx="73152" cy="107899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4489704"/>
            <a:ext cx="5257800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 tIns="0" bIns="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개발 프로세스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SRS / RTM 추적성 · ADR · ASPICE · ISO 26262 / 21434 표준 근거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5989320"/>
            <a:ext cx="10652760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610819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임재형  Jaehyeong Im</a:t>
            </a:r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·   dlawogud517@gmail.com   ·   </a:t>
            </a:r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GitHub </a:t>
            </a:r>
            <a:r>
              <a:rPr sz="105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  <a:hlinkClick r:id="rId2"/>
              </a:rPr>
              <a:t>github.com/JaehyeongIm/automotive-secure-ota-ecu</a:t>
            </a:r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·   Demo </a:t>
            </a:r>
            <a:r>
              <a:rPr sz="105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  <a:hlinkClick r:id="rId3"/>
              </a:rPr>
              <a:t>▶ youtu.be/_RbVwU_nPHI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