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hyperlink" Target="https://youtu.be/_RbVwU_nPHI" TargetMode="External"/><Relationship Id="rId4" Type="http://schemas.openxmlformats.org/officeDocument/2006/relationships/hyperlink" Target="https://github.com/JaehyeongIm/automotive-secure-ota-ecu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youtu.be/_RbVwU_nPHI" TargetMode="External"/><Relationship Id="rId3" Type="http://schemas.openxmlformats.org/officeDocument/2006/relationships/hyperlink" Target="https://github.com/JaehyeongIm/automotive-secure-ota-ecu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7824" cy="6967728"/>
          </a:xfrm>
          <a:prstGeom prst="rect">
            <a:avLst/>
          </a:prstGeom>
          <a:solidFill>
            <a:srgbClr val="16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" name="Picture 2" descr="fes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0"/>
            <a:ext cx="706831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5175504" cy="6858000"/>
          </a:xfrm>
          <a:prstGeom prst="rect">
            <a:avLst/>
          </a:prstGeom>
          <a:solidFill>
            <a:srgbClr val="16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20640" y="0"/>
            <a:ext cx="54864" cy="685800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75504" y="5989320"/>
            <a:ext cx="7013448" cy="868680"/>
          </a:xfrm>
          <a:prstGeom prst="rect">
            <a:avLst/>
          </a:prstGeom>
          <a:solidFill>
            <a:srgbClr val="16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566928"/>
            <a:ext cx="43891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 i="0" spc="60">
                <a:solidFill>
                  <a:srgbClr val="8FC1D6"/>
                </a:solidFill>
                <a:latin typeface="Apple SD Gothic Neo"/>
                <a:ea typeface="Apple SD Gothic Neo"/>
                <a:cs typeface="Apple SD Gothic Neo"/>
              </a:rPr>
              <a:t>FESCARO 2026 상반기 · 차량 사이버보안 (RED팀) 지원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932688"/>
            <a:ext cx="566928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1417320"/>
            <a:ext cx="44805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 spc="220">
                <a:solidFill>
                  <a:srgbClr val="8FC1D6"/>
                </a:solidFill>
                <a:latin typeface="Apple SD Gothic Neo"/>
                <a:ea typeface="Apple SD Gothic Neo"/>
                <a:cs typeface="Apple SD Gothic Neo"/>
              </a:rPr>
              <a:t>AUTOMOTIVE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55648"/>
            <a:ext cx="4572000" cy="2194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33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차량 Secure OTA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33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공격 시나리오 설계</a:t>
            </a:r>
          </a:p>
          <a:p>
            <a:pPr algn="l">
              <a:lnSpc>
                <a:spcPct val="105000"/>
              </a:lnSpc>
            </a:pPr>
            <a:r>
              <a:rPr sz="3300" b="1" i="0">
                <a:solidFill>
                  <a:srgbClr val="8FC1D6"/>
                </a:solidFill>
                <a:latin typeface="Apple SD Gothic Neo"/>
                <a:ea typeface="Apple SD Gothic Neo"/>
                <a:cs typeface="Apple SD Gothic Neo"/>
              </a:rPr>
              <a:t>&amp; 퍼징 취약점 발굴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3931920"/>
            <a:ext cx="443484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40000"/>
              </a:lnSpc>
              <a:spcAft>
                <a:spcPts val="100"/>
              </a:spcAft>
            </a:pPr>
            <a:r>
              <a:rPr sz="1100" b="0" i="0">
                <a:solidFill>
                  <a:srgbClr val="D6DCE6"/>
                </a:solidFill>
                <a:latin typeface="Apple SD Gothic Neo"/>
                <a:ea typeface="Apple SD Gothic Neo"/>
                <a:cs typeface="Apple SD Gothic Neo"/>
              </a:rPr>
              <a:t>실차 Dual-ECU OTA를 직접 구축하고, 공격자 관점으로</a:t>
            </a:r>
          </a:p>
          <a:p>
            <a:pPr algn="l">
              <a:lnSpc>
                <a:spcPct val="140000"/>
              </a:lnSpc>
              <a:spcAft>
                <a:spcPts val="100"/>
              </a:spcAft>
            </a:pPr>
            <a:r>
              <a:rPr sz="1100" b="0" i="0">
                <a:solidFill>
                  <a:srgbClr val="D6DCE6"/>
                </a:solidFill>
                <a:latin typeface="Apple SD Gothic Neo"/>
                <a:ea typeface="Apple SD Gothic Neo"/>
                <a:cs typeface="Apple SD Gothic Neo"/>
              </a:rPr>
              <a:t>방어선을 실증한 뒤 — 커버리지 가이드 퍼징으로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D6DCE6"/>
                </a:solidFill>
                <a:latin typeface="Apple SD Gothic Neo"/>
                <a:ea typeface="Apple SD Gothic Neo"/>
                <a:cs typeface="Apple SD Gothic Neo"/>
              </a:rPr>
              <a:t>미지의 메모리 취약점을 발굴·차단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3504" y="5577840"/>
            <a:ext cx="4242816" cy="0"/>
          </a:xfrm>
          <a:prstGeom prst="line">
            <a:avLst/>
          </a:prstGeom>
          <a:ln w="9525">
            <a:solidFill>
              <a:srgbClr val="245A7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85216" y="5715000"/>
            <a:ext cx="4480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임재형  Jaehyeong Im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D6DCE6"/>
                </a:solidFill>
                <a:latin typeface="Apple SD Gothic Neo"/>
                <a:ea typeface="Apple SD Gothic Neo"/>
                <a:cs typeface="Apple SD Gothic Neo"/>
              </a:rPr>
              <a:t>dlawogud517@gmail.com</a:t>
            </a:r>
          </a:p>
          <a:p>
            <a:pPr algn="l"/>
            <a:r>
              <a:rPr sz="1000" b="0" i="0">
                <a:solidFill>
                  <a:srgbClr val="8FC1D6"/>
                </a:solidFill>
                <a:latin typeface="Apple SD Gothic Neo"/>
                <a:ea typeface="Apple SD Gothic Neo"/>
                <a:cs typeface="Apple SD Gothic Neo"/>
                <a:hlinkClick r:id="rId3"/>
              </a:rPr>
              <a:t>▶  youtu.be/_RbVwU_nPHI</a:t>
            </a:r>
            <a:r>
              <a:rPr sz="1000" b="0" i="0">
                <a:solidFill>
                  <a:srgbClr val="D6DCE6"/>
                </a:solidFill>
                <a:latin typeface="Apple SD Gothic Neo"/>
                <a:ea typeface="Apple SD Gothic Neo"/>
                <a:cs typeface="Apple SD Gothic Neo"/>
              </a:rPr>
              <a:t>      </a:t>
            </a:r>
            <a:r>
              <a:rPr sz="1000" b="0" i="0">
                <a:solidFill>
                  <a:srgbClr val="8FC1D6"/>
                </a:solidFill>
                <a:latin typeface="Apple SD Gothic Neo"/>
                <a:ea typeface="Apple SD Gothic Neo"/>
                <a:cs typeface="Apple SD Gothic Neo"/>
                <a:hlinkClick r:id="rId4"/>
              </a:rPr>
              <a:t>github.com/JaehyeongIm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7824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118872" cy="118872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29768"/>
            <a:ext cx="10789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 i="0" spc="16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OVERVIEW · 한눈에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108813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공격으로 검증하고, 퍼징으로 발굴했다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822960" cy="41148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66928" y="1307592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446520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83096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Automotive Secure OTA — Offensive Testing &amp; Fuzzing   ·   임재형 포트폴리오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83096"/>
            <a:ext cx="22860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02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81328"/>
            <a:ext cx="11055096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실차에서 동작하는 </a:t>
            </a:r>
            <a:r>
              <a:rPr sz="11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CAN 기반 Dual-ECU Secure OTA 파이프라인</a:t>
            </a:r>
            <a:r>
              <a:rPr sz="11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을 직접 구축해 </a:t>
            </a:r>
            <a:r>
              <a:rPr sz="11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내부까지 아는 화이트박스 공격 대상</a:t>
            </a:r>
            <a:r>
              <a:rPr sz="11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을 확보하고, 공격자 관점으로 방어선을 실증한 뒤</a:t>
            </a:r>
          </a:p>
          <a:p>
            <a:pPr algn="l">
              <a:lnSpc>
                <a:spcPct val="132000"/>
              </a:lnSpc>
              <a:spcBef>
                <a:spcPts val="300"/>
              </a:spcBef>
            </a:pPr>
            <a:r>
              <a:rPr sz="11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커버리지 가이드 퍼징으로 시나리오가 놓친 </a:t>
            </a:r>
            <a:r>
              <a:rPr sz="1150" b="1" i="0">
                <a:solidFill>
                  <a:srgbClr val="A33A3A"/>
                </a:solidFill>
                <a:latin typeface="Apple SD Gothic Neo"/>
                <a:ea typeface="Apple SD Gothic Neo"/>
                <a:cs typeface="Apple SD Gothic Neo"/>
              </a:rPr>
              <a:t>실 메모리 취약점(CWE-787)을 1초 내 발굴·차단</a:t>
            </a:r>
            <a:r>
              <a:rPr sz="11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했습니다.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487168"/>
            <a:ext cx="3346704" cy="1225296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01   </a:t>
            </a:r>
            <a:r>
              <a:rPr sz="13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타깃 구축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실차 Dual-ECU OTA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CAN · UDS/ISO-TP · A/B Secure Boot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9352" y="2953512"/>
            <a:ext cx="36576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6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2487168"/>
            <a:ext cx="3346704" cy="1225296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02   </a:t>
            </a:r>
            <a:r>
              <a:rPr sz="13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공격 시나리오 검증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10종 설계 → 8종 검증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on-target 실보드 5종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80" y="2953512"/>
            <a:ext cx="36576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6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2487168"/>
            <a:ext cx="3346704" cy="1225296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03   </a:t>
            </a:r>
            <a:r>
              <a:rPr sz="13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퍼징 취약점 발굴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libFuzzer + ASAN/UBSAN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신규 결함 2건 (CWE-787 포함)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78224"/>
            <a:ext cx="2615184" cy="12252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</a:pPr>
            <a:r>
              <a:rPr sz="24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8 / 10</a:t>
            </a:r>
          </a:p>
          <a:p>
            <a:pPr algn="ctr">
              <a:lnSpc>
                <a:spcPct val="108000"/>
              </a:lnSpc>
            </a:pPr>
            <a:r>
              <a:rPr sz="930" b="1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공격 시나리오 검증 / 설계</a:t>
            </a:r>
          </a:p>
          <a:p>
            <a:pPr algn="ctr">
              <a:lnSpc>
                <a:spcPct val="108000"/>
              </a:lnSpc>
            </a:pPr>
            <a:r>
              <a:rPr sz="84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on-target 5 · 단위 2 · 부분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64992" y="4078224"/>
            <a:ext cx="2615184" cy="12252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</a:pPr>
            <a:r>
              <a:rPr sz="2400" b="1" i="0">
                <a:solidFill>
                  <a:srgbClr val="A33A3A"/>
                </a:solidFill>
                <a:latin typeface="Apple SD Gothic Neo"/>
                <a:ea typeface="Apple SD Gothic Neo"/>
                <a:cs typeface="Apple SD Gothic Neo"/>
              </a:rPr>
              <a:t>2건</a:t>
            </a:r>
          </a:p>
          <a:p>
            <a:pPr algn="ctr">
              <a:lnSpc>
                <a:spcPct val="108000"/>
              </a:lnSpc>
            </a:pPr>
            <a:r>
              <a:rPr sz="930" b="1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퍼징 신규 결함</a:t>
            </a:r>
          </a:p>
          <a:p>
            <a:pPr algn="ctr">
              <a:lnSpc>
                <a:spcPct val="108000"/>
              </a:lnSpc>
            </a:pPr>
            <a:r>
              <a:rPr sz="84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발굴·수정·재퍼징 클린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6" y="4078224"/>
            <a:ext cx="2615184" cy="12252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</a:pPr>
            <a:r>
              <a:rPr sz="2400" b="1" i="0">
                <a:solidFill>
                  <a:srgbClr val="A33A3A"/>
                </a:solidFill>
                <a:latin typeface="Apple SD Gothic Neo"/>
                <a:ea typeface="Apple SD Gothic Neo"/>
                <a:cs typeface="Apple SD Gothic Neo"/>
              </a:rPr>
              <a:t>&lt; 1초</a:t>
            </a:r>
          </a:p>
          <a:p>
            <a:pPr algn="ctr">
              <a:lnSpc>
                <a:spcPct val="108000"/>
              </a:lnSpc>
            </a:pPr>
            <a:r>
              <a:rPr sz="930" b="1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F-003 스택오버플로</a:t>
            </a:r>
          </a:p>
          <a:p>
            <a:pPr algn="ctr">
              <a:lnSpc>
                <a:spcPct val="108000"/>
              </a:lnSpc>
            </a:pPr>
            <a:r>
              <a:rPr sz="84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(CWE-787) 발견 속도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19" y="4078224"/>
            <a:ext cx="2615184" cy="12252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</a:pPr>
            <a:r>
              <a:rPr sz="24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83</a:t>
            </a:r>
          </a:p>
          <a:p>
            <a:pPr algn="ctr">
              <a:lnSpc>
                <a:spcPct val="108000"/>
              </a:lnSpc>
            </a:pPr>
            <a:r>
              <a:rPr sz="930" b="1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단위 테스트 PASS</a:t>
            </a:r>
          </a:p>
          <a:p>
            <a:pPr algn="ctr">
              <a:lnSpc>
                <a:spcPct val="108000"/>
              </a:lnSpc>
            </a:pPr>
            <a:r>
              <a:rPr sz="84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라인 91% · 분기 79%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596128"/>
            <a:ext cx="11055096" cy="603504"/>
          </a:xfrm>
          <a:prstGeom prst="roundRect">
            <a:avLst>
              <a:gd name="adj" fmla="val 6000"/>
            </a:avLst>
          </a:prstGeom>
          <a:solidFill>
            <a:srgbClr val="16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5596128"/>
            <a:ext cx="1065276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8FC1D6"/>
                </a:solidFill>
                <a:latin typeface="Apple SD Gothic Neo"/>
                <a:ea typeface="Apple SD Gothic Neo"/>
                <a:cs typeface="Apple SD Gothic Neo"/>
              </a:rPr>
              <a:t>왜 RED팀과 맞나   </a:t>
            </a:r>
            <a:r>
              <a:rPr sz="1000" b="0" i="0">
                <a:solidFill>
                  <a:srgbClr val="D6DCE6"/>
                </a:solidFill>
                <a:latin typeface="Apple SD Gothic Neo"/>
                <a:ea typeface="Apple SD Gothic Neo"/>
                <a:cs typeface="Apple SD Gothic Neo"/>
              </a:rPr>
              <a:t>임베디드 제어기 보안 테스트(Pen·Fuzz) · 펌웨어 파서 분석 · 취약점 발굴과 트리아지 · 공격 도구(Python)와 베어메탈 펌웨어(C) 양손잡이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7824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118872" cy="118872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29768"/>
            <a:ext cx="10789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 i="0" spc="16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THE TARGET · 공격 대상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108813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실차에서 동작하는 Secure OTA 시스템을 직접 구축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822960" cy="41148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66928" y="1307592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446520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83096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Automotive Secure OTA — Offensive Testing &amp; Fuzzing   ·   임재형 포트폴리오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83096"/>
            <a:ext cx="22860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03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0"/>
            <a:ext cx="11055096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블랙박스 가상 타깃이 아니라 </a:t>
            </a:r>
            <a:r>
              <a:rPr sz="11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실제 ECU·실제 CAN·실제 무선 OTA 경로</a:t>
            </a:r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로 동작하는 시스템을 만들어, 내부 구조를 아는 화이트박스로 공격·검증했습니다.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103120"/>
            <a:ext cx="1975104" cy="914400"/>
          </a:xfrm>
          <a:prstGeom prst="roundRect">
            <a:avLst>
              <a:gd name="adj" fmla="val 7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빌드 · 서명</a:t>
            </a:r>
          </a:p>
          <a:p>
            <a:pPr algn="ctr">
              <a:lnSpc>
                <a:spcPct val="110000"/>
              </a:lnSpc>
            </a:pPr>
            <a:r>
              <a:rPr sz="860" b="0" i="0">
                <a:solidFill>
                  <a:srgbClr val="D6DCE6"/>
                </a:solidFill>
                <a:latin typeface="Apple SD Gothic Neo"/>
                <a:ea typeface="Apple SD Gothic Neo"/>
                <a:cs typeface="Apple SD Gothic Neo"/>
              </a:rPr>
              <a:t>Mac</a:t>
            </a:r>
          </a:p>
          <a:p>
            <a:pPr algn="ctr">
              <a:lnSpc>
                <a:spcPct val="110000"/>
              </a:lnSpc>
            </a:pPr>
            <a:r>
              <a:rPr sz="860" b="0" i="0">
                <a:solidFill>
                  <a:srgbClr val="D6DCE6"/>
                </a:solidFill>
                <a:latin typeface="Apple SD Gothic Neo"/>
                <a:ea typeface="Apple SD Gothic Neo"/>
                <a:cs typeface="Apple SD Gothic Neo"/>
              </a:rPr>
              <a:t>ECDSA-P256 서명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2032" y="2414015"/>
            <a:ext cx="36576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3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16352" y="2103120"/>
            <a:ext cx="1975104" cy="914400"/>
          </a:xfrm>
          <a:prstGeom prst="roundRect">
            <a:avLst>
              <a:gd name="adj" fmla="val 7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게이트웨이</a:t>
            </a:r>
          </a:p>
          <a:p>
            <a:pPr algn="ctr">
              <a:lnSpc>
                <a:spcPct val="110000"/>
              </a:lnSpc>
            </a:pPr>
            <a:r>
              <a:rPr sz="860" b="0" i="0">
                <a:solidFill>
                  <a:srgbClr val="D6DCE6"/>
                </a:solidFill>
                <a:latin typeface="Apple SD Gothic Neo"/>
                <a:ea typeface="Apple SD Gothic Neo"/>
                <a:cs typeface="Apple SD Gothic Neo"/>
              </a:rPr>
              <a:t>RPi5</a:t>
            </a:r>
          </a:p>
          <a:p>
            <a:pPr algn="ctr">
              <a:lnSpc>
                <a:spcPct val="110000"/>
              </a:lnSpc>
            </a:pPr>
            <a:r>
              <a:rPr sz="860" b="0" i="0">
                <a:solidFill>
                  <a:srgbClr val="D6DCE6"/>
                </a:solidFill>
                <a:latin typeface="Apple SD Gothic Neo"/>
                <a:ea typeface="Apple SD Gothic Neo"/>
                <a:cs typeface="Apple SD Gothic Neo"/>
              </a:rPr>
              <a:t>ota_client.py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91456" y="2414015"/>
            <a:ext cx="36576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3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65776" y="2103120"/>
            <a:ext cx="1975104" cy="914400"/>
          </a:xfrm>
          <a:prstGeom prst="roundRect">
            <a:avLst>
              <a:gd name="adj" fmla="val 7000"/>
            </a:avLst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CAN Bus</a:t>
            </a:r>
          </a:p>
          <a:p>
            <a:pPr algn="ctr">
              <a:lnSpc>
                <a:spcPct val="110000"/>
              </a:lnSpc>
            </a:pPr>
            <a:r>
              <a:rPr sz="860" b="0" i="0">
                <a:solidFill>
                  <a:srgbClr val="D6DCE6"/>
                </a:solidFill>
                <a:latin typeface="Apple SD Gothic Neo"/>
                <a:ea typeface="Apple SD Gothic Neo"/>
                <a:cs typeface="Apple SD Gothic Neo"/>
              </a:rPr>
              <a:t>Classic CAN</a:t>
            </a:r>
          </a:p>
          <a:p>
            <a:pPr algn="ctr">
              <a:lnSpc>
                <a:spcPct val="110000"/>
              </a:lnSpc>
            </a:pPr>
            <a:r>
              <a:rPr sz="860" b="0" i="0">
                <a:solidFill>
                  <a:srgbClr val="D6DCE6"/>
                </a:solidFill>
                <a:latin typeface="Apple SD Gothic Neo"/>
                <a:ea typeface="Apple SD Gothic Neo"/>
                <a:cs typeface="Apple SD Gothic Neo"/>
              </a:rPr>
              <a:t>UDS / ISO-TP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2414015"/>
            <a:ext cx="36576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3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2103120"/>
            <a:ext cx="1975104" cy="914400"/>
          </a:xfrm>
          <a:prstGeom prst="roundRect">
            <a:avLst>
              <a:gd name="adj" fmla="val 7000"/>
            </a:avLst>
          </a:prstGeom>
          <a:solidFill>
            <a:srgbClr val="245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Drive ECU</a:t>
            </a:r>
          </a:p>
          <a:p>
            <a:pPr algn="ctr">
              <a:lnSpc>
                <a:spcPct val="110000"/>
              </a:lnSpc>
            </a:pPr>
            <a:r>
              <a:rPr sz="860" b="0" i="0">
                <a:solidFill>
                  <a:srgbClr val="D6DCE6"/>
                </a:solidFill>
                <a:latin typeface="Apple SD Gothic Neo"/>
                <a:ea typeface="Apple SD Gothic Neo"/>
                <a:cs typeface="Apple SD Gothic Neo"/>
              </a:rPr>
              <a:t>STM32F446RE</a:t>
            </a:r>
          </a:p>
          <a:p>
            <a:pPr algn="ctr">
              <a:lnSpc>
                <a:spcPct val="110000"/>
              </a:lnSpc>
            </a:pPr>
            <a:r>
              <a:rPr sz="860" b="0" i="0">
                <a:solidFill>
                  <a:srgbClr val="D6DCE6"/>
                </a:solidFill>
                <a:latin typeface="Apple SD Gothic Neo"/>
                <a:ea typeface="Apple SD Gothic Neo"/>
                <a:cs typeface="Apple SD Gothic Neo"/>
              </a:rPr>
              <a:t>A/B Bootloader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0304" y="2414015"/>
            <a:ext cx="36576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3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64624" y="2103120"/>
            <a:ext cx="1975104" cy="914400"/>
          </a:xfrm>
          <a:prstGeom prst="roundRect">
            <a:avLst>
              <a:gd name="adj" fmla="val 7000"/>
            </a:avLst>
          </a:prstGeom>
          <a:solidFill>
            <a:srgbClr val="245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Sensor ECU</a:t>
            </a:r>
          </a:p>
          <a:p>
            <a:pPr algn="ctr">
              <a:lnSpc>
                <a:spcPct val="110000"/>
              </a:lnSpc>
            </a:pPr>
            <a:r>
              <a:rPr sz="860" b="0" i="0">
                <a:solidFill>
                  <a:srgbClr val="D6DCE6"/>
                </a:solidFill>
                <a:latin typeface="Apple SD Gothic Neo"/>
                <a:ea typeface="Apple SD Gothic Neo"/>
                <a:cs typeface="Apple SD Gothic Neo"/>
              </a:rPr>
              <a:t>STM32F446RE</a:t>
            </a:r>
          </a:p>
          <a:p>
            <a:pPr algn="ctr">
              <a:lnSpc>
                <a:spcPct val="110000"/>
              </a:lnSpc>
            </a:pPr>
            <a:r>
              <a:rPr sz="860" b="0" i="0">
                <a:solidFill>
                  <a:srgbClr val="D6DCE6"/>
                </a:solidFill>
                <a:latin typeface="Apple SD Gothic Neo"/>
                <a:ea typeface="Apple SD Gothic Neo"/>
                <a:cs typeface="Apple SD Gothic Neo"/>
              </a:rPr>
              <a:t>A/B Bootloader</a:t>
            </a:r>
          </a:p>
        </p:txBody>
      </p:sp>
      <p:pic>
        <p:nvPicPr>
          <p:cNvPr id="21" name="Picture 20" descr="fes_t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346704"/>
            <a:ext cx="4160520" cy="2331720"/>
          </a:xfrm>
          <a:prstGeom prst="rect">
            <a:avLst/>
          </a:prstGeom>
          <a:ln w="12700">
            <a:solidFill>
              <a:srgbClr val="C6D0DC"/>
            </a:solidFill>
          </a:ln>
        </p:spPr>
      </p:pic>
      <p:sp>
        <p:nvSpPr>
          <p:cNvPr id="22" name="TextBox 21"/>
          <p:cNvSpPr txBox="1"/>
          <p:nvPr/>
        </p:nvSpPr>
        <p:spPr>
          <a:xfrm>
            <a:off x="566928" y="5724144"/>
            <a:ext cx="4160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83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실 RC 차량 벤치 — ECU ×2 · CAN 트랜시버/버스 · RPi5 게이트웨이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3291840"/>
            <a:ext cx="654710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공격 대상으로서의 현실성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3675887"/>
            <a:ext cx="6547104" cy="3657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0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표준 프로토콜</a:t>
            </a:r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Classic CAN · UDS(ISO 14229) over ISO-TP(15765) — 실차 진단/리프로그래밍과 동일 스택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0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0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신뢰 사슬</a:t>
            </a:r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A/B Secure Boot(ECDSA-P256/SHA-256) · WRP 잠금 부트로더 · 슬롯 메타 이중화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0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0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실제 OTA 경로</a:t>
            </a:r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Mac→RPi5→CAN으로 35KB 펌웨어를 무선 전송·슬롯 전환·부팅 (운영 경로 그대로)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0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0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실 거동 관측</a:t>
            </a:r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공격이 주행 RC카에 미치는 영향을 UART·CAN·오실로스코프로 직접 관측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7824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118872" cy="118872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29768"/>
            <a:ext cx="10789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 i="0" spc="16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ATTACK SURFACE · 공격 표면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108813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공격자가 바이트를 주입할 수 있는 지점부터 짚었다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822960" cy="41148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66928" y="1307592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446520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83096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Automotive Secure OTA — Offensive Testing &amp; Fuzzing   ·   임재형 포트폴리오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83096"/>
            <a:ext cx="22860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04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0"/>
            <a:ext cx="11055096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정식 HARA/TARA 절차가 아니라, </a:t>
            </a:r>
            <a:r>
              <a:rPr sz="11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OTA 파이프라인 구조를 따라가며 '공격자가 직접 통제 가능한 입력'</a:t>
            </a:r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을 신뢰 경계 기준으로 식별했습니다.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139696"/>
            <a:ext cx="2615184" cy="950976"/>
          </a:xfrm>
          <a:prstGeom prst="roundRect">
            <a:avLst>
              <a:gd name="adj" fmla="val 7000"/>
            </a:avLst>
          </a:prstGeom>
          <a:solidFill>
            <a:srgbClr val="F7EDED"/>
          </a:solidFill>
          <a:ln w="12700">
            <a:solidFill>
              <a:srgbClr val="A3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</a:pPr>
            <a:r>
              <a:rPr sz="1150" b="1" i="0">
                <a:solidFill>
                  <a:srgbClr val="A33A3A"/>
                </a:solidFill>
                <a:latin typeface="Apple SD Gothic Neo"/>
                <a:ea typeface="Apple SD Gothic Neo"/>
                <a:cs typeface="Apple SD Gothic Neo"/>
              </a:rPr>
              <a:t>신뢰 불가 입력</a:t>
            </a:r>
          </a:p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CAN 와이어 바이트</a:t>
            </a:r>
          </a:p>
          <a:p>
            <a:pPr algn="ctr">
              <a:lnSpc>
                <a:spcPct val="112000"/>
              </a:lnSpc>
            </a:pPr>
            <a:r>
              <a:rPr sz="86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UDS 0x27/0x34/0x36/0x37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18688" y="2468879"/>
            <a:ext cx="36576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300" b="1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93008" y="2139696"/>
            <a:ext cx="2615184" cy="950976"/>
          </a:xfrm>
          <a:prstGeom prst="roundRect">
            <a:avLst>
              <a:gd name="adj" fmla="val 7000"/>
            </a:avLst>
          </a:prstGeom>
          <a:solidFill>
            <a:srgbClr val="FBF4EA"/>
          </a:solidFill>
          <a:ln w="12700">
            <a:solidFill>
              <a:srgbClr val="A86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</a:pPr>
            <a:r>
              <a:rPr sz="1150" b="1" i="0">
                <a:solidFill>
                  <a:srgbClr val="A86A2C"/>
                </a:solidFill>
                <a:latin typeface="Apple SD Gothic Neo"/>
                <a:ea typeface="Apple SD Gothic Neo"/>
                <a:cs typeface="Apple SD Gothic Neo"/>
              </a:rPr>
              <a:t>파싱 / 상태머신</a:t>
            </a:r>
          </a:p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UDS 디스패처</a:t>
            </a:r>
          </a:p>
          <a:p>
            <a:pPr algn="ctr">
              <a:lnSpc>
                <a:spcPct val="112000"/>
              </a:lnSpc>
            </a:pPr>
            <a:r>
              <a:rPr sz="86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uds_process → handle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2468879"/>
            <a:ext cx="36576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300" b="1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19088" y="2139696"/>
            <a:ext cx="2615184" cy="950976"/>
          </a:xfrm>
          <a:prstGeom prst="roundRect">
            <a:avLst>
              <a:gd name="adj" fmla="val 7000"/>
            </a:avLst>
          </a:prstGeom>
          <a:solidFill>
            <a:srgbClr val="FBF4EA"/>
          </a:solidFill>
          <a:ln w="12700">
            <a:solidFill>
              <a:srgbClr val="A86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</a:pPr>
            <a:r>
              <a:rPr sz="1150" b="1" i="0">
                <a:solidFill>
                  <a:srgbClr val="A86A2C"/>
                </a:solidFill>
                <a:latin typeface="Apple SD Gothic Neo"/>
                <a:ea typeface="Apple SD Gothic Neo"/>
                <a:cs typeface="Apple SD Gothic Neo"/>
              </a:rPr>
              <a:t>Flash 쓰기</a:t>
            </a:r>
          </a:p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ota_flash_write</a:t>
            </a:r>
          </a:p>
          <a:p>
            <a:pPr algn="ctr">
              <a:lnSpc>
                <a:spcPct val="112000"/>
              </a:lnSpc>
            </a:pPr>
            <a:r>
              <a:rPr sz="86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슬롯 누적·정렬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2468879"/>
            <a:ext cx="36576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300" b="1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45167" y="2139696"/>
            <a:ext cx="2615184" cy="950976"/>
          </a:xfrm>
          <a:prstGeom prst="roundRect">
            <a:avLst>
              <a:gd name="adj" fmla="val 7000"/>
            </a:avLst>
          </a:prstGeom>
          <a:solidFill>
            <a:srgbClr val="ECF4EF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</a:pPr>
            <a:r>
              <a:rPr sz="115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부팅 검증</a:t>
            </a:r>
          </a:p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Bootloader</a:t>
            </a:r>
          </a:p>
          <a:p>
            <a:pPr algn="ctr">
              <a:lnSpc>
                <a:spcPct val="112000"/>
              </a:lnSpc>
            </a:pPr>
            <a:r>
              <a:rPr sz="86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ECDSA · anti-rollback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163824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1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신뢰 경계 — 왼쪽일수록 공격자 통제력↑ / 검증되지 않은 데이터.  오른쪽으로 갈수록 방어가 데이터를 검증·차단.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712463"/>
            <a:ext cx="11055096" cy="384048"/>
          </a:xfrm>
          <a:prstGeom prst="rect">
            <a:avLst/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712463"/>
            <a:ext cx="2642615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식별한 위협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47288" y="3712463"/>
            <a:ext cx="4014215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공격 벡터 (통제 입력)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07807" y="3712463"/>
            <a:ext cx="3959352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대응 방어선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096511"/>
            <a:ext cx="1105509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096511"/>
            <a:ext cx="265176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1" i="0">
                <a:solidFill>
                  <a:srgbClr val="A33A3A"/>
                </a:solidFill>
                <a:latin typeface="Apple SD Gothic Neo"/>
                <a:ea typeface="Apple SD Gothic Neo"/>
                <a:cs typeface="Apple SD Gothic Neo"/>
              </a:rPr>
              <a:t>펌웨어 변조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47288" y="4096511"/>
            <a:ext cx="4023359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서명 영역 1바이트 변조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07807" y="4096511"/>
            <a:ext cx="3968496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ECDSA-P256 게이트 (부팅 거부)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4462272"/>
            <a:ext cx="11055096" cy="36576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4462272"/>
            <a:ext cx="265176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1" i="0">
                <a:solidFill>
                  <a:srgbClr val="A33A3A"/>
                </a:solidFill>
                <a:latin typeface="Apple SD Gothic Neo"/>
                <a:ea typeface="Apple SD Gothic Neo"/>
                <a:cs typeface="Apple SD Gothic Neo"/>
              </a:rPr>
              <a:t>미서명 / 서명무효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47288" y="4462272"/>
            <a:ext cx="4023359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서명 64B = 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07807" y="4462272"/>
            <a:ext cx="3968496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REQUIRED 검증 (우회 불가)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828032"/>
            <a:ext cx="1105509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4828032"/>
            <a:ext cx="265176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1" i="0">
                <a:solidFill>
                  <a:srgbClr val="A33A3A"/>
                </a:solidFill>
                <a:latin typeface="Apple SD Gothic Neo"/>
                <a:ea typeface="Apple SD Gothic Neo"/>
                <a:cs typeface="Apple SD Gothic Neo"/>
              </a:rPr>
              <a:t>다운그레이드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47288" y="4828032"/>
            <a:ext cx="4023359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서명된 옛 버전 재설치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7807" y="4828032"/>
            <a:ext cx="3968496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anti-rollback (버전 기준선)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5193792"/>
            <a:ext cx="11055096" cy="36576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193792"/>
            <a:ext cx="265176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1" i="0">
                <a:solidFill>
                  <a:srgbClr val="A33A3A"/>
                </a:solidFill>
                <a:latin typeface="Apple SD Gothic Neo"/>
                <a:ea typeface="Apple SD Gothic Neo"/>
                <a:cs typeface="Apple SD Gothic Neo"/>
              </a:rPr>
              <a:t>endless-data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47288" y="5193792"/>
            <a:ext cx="4023359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작은 size 선언 후 초과 전송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07807" y="5193792"/>
            <a:ext cx="3968496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누적 상한 + 세션 종료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5559552"/>
            <a:ext cx="1105509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5559552"/>
            <a:ext cx="265176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1" i="0">
                <a:solidFill>
                  <a:srgbClr val="A33A3A"/>
                </a:solidFill>
                <a:latin typeface="Apple SD Gothic Neo"/>
                <a:ea typeface="Apple SD Gothic Neo"/>
                <a:cs typeface="Apple SD Gothic Neo"/>
              </a:rPr>
              <a:t>CAN flood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47288" y="5559552"/>
            <a:ext cx="4023359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버스 폭주 중 OTA 중단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07807" y="5559552"/>
            <a:ext cx="3968496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수신 타임아웃 + 미commit (no-brick)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5925312"/>
            <a:ext cx="11055096" cy="36576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" y="5925312"/>
            <a:ext cx="265176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1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replay (잔여)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47288" y="5925312"/>
            <a:ext cx="4023359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세션/시퀀스 재생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07807" y="5925312"/>
            <a:ext cx="3968496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로드맵 — Uptane / Secure Element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66928" y="6291072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7824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118872" cy="118872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29768"/>
            <a:ext cx="10789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 i="0" spc="16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ATTACK SCENARIOS · 공격 시나리오 커버리지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108813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설계한 공격 시나리오 10종 — 8종 검증, 2종 로드맵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822960" cy="41148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66928" y="1307592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446520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83096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Automotive Secure OTA — Offensive Testing &amp; Fuzzing   ·   임재형 포트폴리오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83096"/>
            <a:ext cx="22860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05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26464"/>
            <a:ext cx="1105509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Python으로 공격 도구를 직접 작성</a:t>
            </a:r>
            <a:r>
              <a:rPr sz="10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(forge_image · forge_meta · cangen · --declared-size)하고, 운영과 동일한 OTA 경로로 </a:t>
            </a:r>
            <a:r>
              <a:rPr sz="10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실 ECU·실 CAN에 주입</a:t>
            </a:r>
            <a:r>
              <a:rPr sz="10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해 검증했습니다.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1847088"/>
            <a:ext cx="11055096" cy="402336"/>
          </a:xfrm>
          <a:prstGeom prst="roundRect">
            <a:avLst>
              <a:gd name="adj" fmla="val 7000"/>
            </a:avLst>
          </a:prstGeom>
          <a:solidFill>
            <a:srgbClr val="16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1847088"/>
            <a:ext cx="1065276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8FC1D6"/>
                </a:solidFill>
                <a:latin typeface="Apple SD Gothic Neo"/>
                <a:ea typeface="Apple SD Gothic Neo"/>
                <a:cs typeface="Apple SD Gothic Neo"/>
              </a:rPr>
              <a:t>공격 시나리오 10종 설계  →  8종 검증</a:t>
            </a:r>
            <a:r>
              <a:rPr sz="1000" b="0" i="0">
                <a:solidFill>
                  <a:srgbClr val="D6DCE6"/>
                </a:solidFill>
                <a:latin typeface="Apple SD Gothic Neo"/>
                <a:ea typeface="Apple SD Gothic Neo"/>
                <a:cs typeface="Apple SD Gothic Neo"/>
              </a:rPr>
              <a:t>        실증 7 · 부분 1 · 미구현(로드맵) 2</a:t>
            </a:r>
            <a:r>
              <a:rPr sz="1000" b="0" i="0">
                <a:solidFill>
                  <a:srgbClr val="9AA3AE"/>
                </a:solidFill>
                <a:latin typeface="Apple SD Gothic Neo"/>
                <a:ea typeface="Apple SD Gothic Neo"/>
                <a:cs typeface="Apple SD Gothic Neo"/>
              </a:rPr>
              <a:t>        |  on-target 실보드 5 · 단위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395728"/>
            <a:ext cx="11055096" cy="329184"/>
          </a:xfrm>
          <a:prstGeom prst="rect">
            <a:avLst/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395728"/>
            <a:ext cx="305409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공격 시나리오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8" y="2395728"/>
            <a:ext cx="451713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방어 메커니즘 · 공격 도구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7" y="2395728"/>
            <a:ext cx="3044952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검증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724912"/>
            <a:ext cx="11055096" cy="3154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724912"/>
            <a:ext cx="3063240" cy="3154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001  펌웨어 변조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58768" y="2724912"/>
            <a:ext cx="4526279" cy="3154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ECDSA-P256 게이트 · forge_image --tamper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7" y="2724912"/>
            <a:ext cx="3054096" cy="3154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on-target · SIT-06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040380"/>
            <a:ext cx="11055096" cy="315468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040380"/>
            <a:ext cx="3063240" cy="3154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002  미서명 / 서명무효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58768" y="3040380"/>
            <a:ext cx="4526279" cy="3154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REQUIRED 검증(우회 불가) · forge_image --unsign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2207" y="3040380"/>
            <a:ext cx="3054096" cy="3154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on-target · SIT-07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355848"/>
            <a:ext cx="11055096" cy="3154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3355848"/>
            <a:ext cx="3063240" cy="3154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003  다운그레이드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58768" y="3355848"/>
            <a:ext cx="4526279" cy="3154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anti-rollback 버전 기준선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22207" y="3355848"/>
            <a:ext cx="3054096" cy="3154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on-target · SIT-01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671315"/>
            <a:ext cx="11055096" cy="315468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3671315"/>
            <a:ext cx="3063240" cy="3154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007  endless-data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58768" y="3671315"/>
            <a:ext cx="4526279" cy="3154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누적 상한 → NRC 0x31 + 종료 · --declared-size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22207" y="3671315"/>
            <a:ext cx="3054096" cy="3154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on-target · SIT-05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3986783"/>
            <a:ext cx="11055096" cy="3154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3986783"/>
            <a:ext cx="3063240" cy="3154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008  CAN flood (no-brick)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58768" y="3986783"/>
            <a:ext cx="4526279" cy="3154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수신 타임아웃 → 미commit · cangen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2207" y="3986783"/>
            <a:ext cx="3054096" cy="3154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on-target · SIT-08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4302251"/>
            <a:ext cx="11055096" cy="315468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4302251"/>
            <a:ext cx="3063240" cy="3154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004  ECU ID 불일치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58768" y="4302251"/>
            <a:ext cx="4526279" cy="3154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target_ecu_id 거부 (NRC 0x31)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22207" y="4302251"/>
            <a:ext cx="3054096" cy="3154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단위 검증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617719"/>
            <a:ext cx="11055096" cy="3154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4617719"/>
            <a:ext cx="3063240" cy="3154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006  SecurityAccess 우회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58768" y="4617719"/>
            <a:ext cx="4526279" cy="3154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미잠금 / 세션 거부 분기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22207" y="4617719"/>
            <a:ext cx="3054096" cy="3154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단위 검증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4933187"/>
            <a:ext cx="11055096" cy="315468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" y="4933187"/>
            <a:ext cx="3063240" cy="3154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009  fake complete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58768" y="4933187"/>
            <a:ext cx="4526279" cy="3154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fail-closed 검증 · forge_meta size0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22207" y="4933187"/>
            <a:ext cx="3054096" cy="3154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1" i="0">
                <a:solidFill>
                  <a:srgbClr val="A86A2C"/>
                </a:solidFill>
                <a:latin typeface="Apple SD Gothic Neo"/>
                <a:ea typeface="Apple SD Gothic Neo"/>
                <a:cs typeface="Apple SD Gothic Neo"/>
              </a:rPr>
              <a:t>부분 · SIT-03 경유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8" y="5248655"/>
            <a:ext cx="11055096" cy="3154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8368" y="5248655"/>
            <a:ext cx="3063240" cy="3154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1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005  replay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58768" y="5248655"/>
            <a:ext cx="4526279" cy="3154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session / sequence / freshness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22207" y="5248655"/>
            <a:ext cx="3054096" cy="3154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로드맵 · ATECC608A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" y="5564123"/>
            <a:ext cx="11055096" cy="315468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8368" y="5564123"/>
            <a:ext cx="3063240" cy="3154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1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010  campaign partial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58768" y="5564123"/>
            <a:ext cx="4526279" cy="3154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Uptane-lite 캠페인 결과 추적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22207" y="5564123"/>
            <a:ext cx="3054096" cy="3154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로드맵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66928" y="5879591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566928" y="5943600"/>
            <a:ext cx="11055096" cy="402336"/>
          </a:xfrm>
          <a:prstGeom prst="roundRect">
            <a:avLst>
              <a:gd name="adj" fmla="val 7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8096" y="5943600"/>
            <a:ext cx="1065276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A86A2C"/>
                </a:solidFill>
                <a:latin typeface="Apple SD Gothic Neo"/>
                <a:ea typeface="Apple SD Gothic Neo"/>
                <a:cs typeface="Apple SD Gothic Neo"/>
              </a:rPr>
              <a:t>스코프   </a:t>
            </a: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이 표는 '아는 위협'에 대한 방어를 검증합니다. </a:t>
            </a:r>
            <a:r>
              <a:rPr sz="930" b="1" i="0">
                <a:solidFill>
                  <a:srgbClr val="A33A3A"/>
                </a:solidFill>
                <a:latin typeface="Apple SD Gothic Neo"/>
                <a:ea typeface="Apple SD Gothic Neo"/>
                <a:cs typeface="Apple SD Gothic Neo"/>
              </a:rPr>
              <a:t>미지의 메모리 취약점</a:t>
            </a: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은 다음 단계인 퍼징으로 자동 탐색했습니다(F-003 · CWE-787).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7824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118872" cy="118872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29768"/>
            <a:ext cx="10789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 i="0" spc="16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FUZZING · 발굴 엔진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108813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시나리오가 놓치는 '미지의 결함'은 퍼징으로 자동 탐색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822960" cy="41148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66928" y="1307592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446520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83096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Automotive Secure OTA — Offensive Testing &amp; Fuzzing   ·   임재형 포트폴리오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83096"/>
            <a:ext cx="22860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06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0"/>
            <a:ext cx="11055096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시나리오는 </a:t>
            </a:r>
            <a:r>
              <a:rPr sz="11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'아는 위협'</a:t>
            </a:r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만 검증합니다. 신뢰할 수 없는 입력을 파싱하는 순수 로직을 </a:t>
            </a:r>
            <a:r>
              <a:rPr sz="11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커버리지 가이드 퍼징 + 새니타이저</a:t>
            </a:r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로 자동·대량 자극해 메모리 안전 결함을 체계적으로 발굴했습니다.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139696"/>
            <a:ext cx="55778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방법론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505456"/>
            <a:ext cx="5577840" cy="3657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10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0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도구</a:t>
            </a:r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libFuzzer / AFL++ + ASAN·UBSAN — OSS-Fuzz·Chromium·Linux 커널이 쓰는 사실상 표준</a:t>
            </a:r>
          </a:p>
          <a:p>
            <a:pPr algn="l">
              <a:lnSpc>
                <a:spcPct val="122000"/>
              </a:lnSpc>
              <a:spcBef>
                <a:spcPts val="800"/>
              </a:spcBef>
            </a:pPr>
            <a:r>
              <a:rPr sz="10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0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하니스 ABI</a:t>
            </a:r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LLVMFuzzerTestOneInput — 엔진 lock-in 없음(컴파일러만 교체하면 AFL++ 전환)</a:t>
            </a:r>
          </a:p>
          <a:p>
            <a:pPr algn="l">
              <a:lnSpc>
                <a:spcPct val="122000"/>
              </a:lnSpc>
              <a:spcBef>
                <a:spcPts val="800"/>
              </a:spcBef>
            </a:pPr>
            <a:r>
              <a:rPr sz="10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0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자산 재사용</a:t>
            </a:r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단위테스트가 분리해 둔 HAL/순수 코어를 그대로 퍼징 하니스에 투입</a:t>
            </a:r>
          </a:p>
          <a:p>
            <a:pPr algn="l">
              <a:lnSpc>
                <a:spcPct val="122000"/>
              </a:lnSpc>
              <a:spcBef>
                <a:spcPts val="800"/>
              </a:spcBef>
            </a:pPr>
            <a:r>
              <a:rPr sz="10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0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리스크 기반 우선순위</a:t>
            </a:r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노출 × 복잡도 × 결과 → UDS 0x36 다운로드 경로(FH-3) 최우선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449824"/>
            <a:ext cx="5577840" cy="749808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Oracle (무엇을 결함으로 보는가)</a:t>
            </a:r>
          </a:p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① 새니타이저 abort(OOB·정수 UB)   ② 행/타임아웃(무한루프)   ③ 하니스 불변식 assert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139696"/>
            <a:ext cx="508406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퍼징 파이프라인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2505456"/>
            <a:ext cx="5084064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E6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   시드 코퍼스</a:t>
            </a:r>
            <a:r>
              <a:rPr sz="90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     정상 0x34/0x36/0x37 흐름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60" y="2505456"/>
            <a:ext cx="91440" cy="475488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05672" y="2971800"/>
            <a:ext cx="54864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1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3131820"/>
            <a:ext cx="5084064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234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223451"/>
                </a:solidFill>
                <a:latin typeface="Apple SD Gothic Neo"/>
                <a:ea typeface="Apple SD Gothic Neo"/>
                <a:cs typeface="Apple SD Gothic Neo"/>
              </a:rPr>
              <a:t>   libFuzzer</a:t>
            </a:r>
            <a:r>
              <a:rPr sz="90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     커버리지 신호로 입력 진화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3131820"/>
            <a:ext cx="91440" cy="475488"/>
          </a:xfrm>
          <a:prstGeom prst="rect">
            <a:avLst/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05672" y="3598164"/>
            <a:ext cx="54864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100" b="1" i="0">
                <a:solidFill>
                  <a:srgbClr val="223451"/>
                </a:solidFill>
                <a:latin typeface="Apple SD Gothic Neo"/>
                <a:ea typeface="Apple SD Gothic Neo"/>
                <a:cs typeface="Apple SD Gothic Neo"/>
              </a:rPr>
              <a:t>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60" y="3758184"/>
            <a:ext cx="5084064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A3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A33A3A"/>
                </a:solidFill>
                <a:latin typeface="Apple SD Gothic Neo"/>
                <a:ea typeface="Apple SD Gothic Neo"/>
                <a:cs typeface="Apple SD Gothic Neo"/>
              </a:rPr>
              <a:t>   ASAN / UBSAN</a:t>
            </a:r>
            <a:r>
              <a:rPr sz="90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     경계 위반·UB를 즉시 크래시화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60" y="3758184"/>
            <a:ext cx="91440" cy="475488"/>
          </a:xfrm>
          <a:prstGeom prst="rect">
            <a:avLst/>
          </a:prstGeom>
          <a:solidFill>
            <a:srgbClr val="A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05672" y="4224528"/>
            <a:ext cx="54864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100" b="1" i="0">
                <a:solidFill>
                  <a:srgbClr val="A33A3A"/>
                </a:solidFill>
                <a:latin typeface="Apple SD Gothic Neo"/>
                <a:ea typeface="Apple SD Gothic Neo"/>
                <a:cs typeface="Apple SD Gothic Neo"/>
              </a:rPr>
              <a:t>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4384548"/>
            <a:ext cx="5084064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A86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A86A2C"/>
                </a:solidFill>
                <a:latin typeface="Apple SD Gothic Neo"/>
                <a:ea typeface="Apple SD Gothic Neo"/>
                <a:cs typeface="Apple SD Gothic Neo"/>
              </a:rPr>
              <a:t>   트리아지</a:t>
            </a:r>
            <a:r>
              <a:rPr sz="90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     실결함(A) vs 하니스 산물(B)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37960" y="4384548"/>
            <a:ext cx="91440" cy="475488"/>
          </a:xfrm>
          <a:prstGeom prst="rect">
            <a:avLst/>
          </a:prstGeom>
          <a:solidFill>
            <a:srgbClr val="A8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05672" y="4850892"/>
            <a:ext cx="54864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100" b="1" i="0">
                <a:solidFill>
                  <a:srgbClr val="A86A2C"/>
                </a:solidFill>
                <a:latin typeface="Apple SD Gothic Neo"/>
                <a:ea typeface="Apple SD Gothic Neo"/>
                <a:cs typeface="Apple SD Gothic Neo"/>
              </a:rPr>
              <a:t>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60" y="5010912"/>
            <a:ext cx="5084064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   수정 → 재퍼징</a:t>
            </a:r>
            <a:r>
              <a:rPr sz="90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     회귀 + 무재현으로 방어 입증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37960" y="5010912"/>
            <a:ext cx="91440" cy="475488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5779008"/>
            <a:ext cx="508406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하니스 3종 — </a:t>
            </a:r>
            <a:r>
              <a:rPr sz="9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FH-1 이미지 헤더 · FH-2 메타 · FH-3 UDS 다운로드(P1)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7824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118872" cy="118872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29768"/>
            <a:ext cx="10789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 i="0" spc="16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FINDING · F-003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108813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퍼징이 1초 만에 찾은 공격자 제어 스택 오버플로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822960" cy="41148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66928" y="1307592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446520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83096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Automotive Secure OTA — Offensive Testing &amp; Fuzzing   ·   임재형 포트폴리오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83096"/>
            <a:ext cx="22860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07 /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444752"/>
            <a:ext cx="11055096" cy="457200"/>
          </a:xfrm>
          <a:prstGeom prst="roundRect">
            <a:avLst>
              <a:gd name="adj" fmla="val 6000"/>
            </a:avLst>
          </a:prstGeom>
          <a:solidFill>
            <a:srgbClr val="A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l"/>
            <a:r>
              <a:rPr sz="10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 CWE-787  Out-of-bounds Write</a:t>
            </a:r>
            <a:r>
              <a:rPr sz="950" b="0" i="0">
                <a:solidFill>
                  <a:srgbClr val="F2C6C6"/>
                </a:solidFill>
                <a:latin typeface="Apple SD Gothic Neo"/>
                <a:ea typeface="Apple SD Gothic Neo"/>
                <a:cs typeface="Apple SD Gothic Neo"/>
              </a:rPr>
              <a:t>        심각도 Medium (post-auth)</a:t>
            </a:r>
            <a:r>
              <a:rPr sz="950" b="0" i="0">
                <a:solidFill>
                  <a:srgbClr val="D6DCE6"/>
                </a:solidFill>
                <a:latin typeface="Apple SD Gothic Neo"/>
                <a:ea typeface="Apple SD Gothic Neo"/>
                <a:cs typeface="Apple SD Gothic Neo"/>
              </a:rPr>
              <a:t>        FH-3 harness_uds · 261바이트 입력 · 발견 &lt; 1초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121408"/>
            <a:ext cx="55321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근본 원인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487168"/>
            <a:ext cx="5532120" cy="3657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10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0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광고 vs 집행 불일치</a:t>
            </a:r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0x34가 maxBlockLen=258을 광고하나, 0x36 TransferData가 블록 크기를 집행하지 않음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0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0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방어의 사각</a:t>
            </a:r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endless-data 누적가드는 '누적 vs 선언'만 검사 — '블록 vs 버퍼' 경계는 못 막음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0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0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결과</a:t>
            </a:r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chunk_len=261 → write_len=264 &gt; padded[260] → 인접 스택을 공격자 바이트로 침범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34256"/>
            <a:ext cx="5532120" cy="1078992"/>
          </a:xfrm>
          <a:prstGeom prst="roundRect">
            <a:avLst>
              <a:gd name="adj" fmla="val 6000"/>
            </a:avLst>
          </a:prstGeom>
          <a:solidFill>
            <a:srgbClr val="F7EDED"/>
          </a:solidFill>
          <a:ln w="12700">
            <a:solidFill>
              <a:srgbClr val="A3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A33A3A"/>
                </a:solidFill>
                <a:latin typeface="Apple SD Gothic Neo"/>
                <a:ea typeface="Apple SD Gothic Neo"/>
                <a:cs typeface="Apple SD Gothic Neo"/>
              </a:rPr>
              <a:t>악용 가능성</a:t>
            </a:r>
          </a:p>
          <a:p>
            <a:pPr algn="l">
              <a:lnSpc>
                <a:spcPct val="126000"/>
              </a:lnSpc>
            </a:pPr>
            <a:r>
              <a:rPr sz="9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베어메탈 Cortex-M은 스택 카나리·ASLR이 기본 없음</a:t>
            </a:r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→ 공격자 제어 스택 오버플로는 DoS부터 코드 실행까지 잠재. post-auth(unlock 필요)이나 신뢰 경계 내부의 실 결함.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103120"/>
            <a:ext cx="5221224" cy="1517904"/>
          </a:xfrm>
          <a:prstGeom prst="roundRect">
            <a:avLst>
              <a:gd name="adj" fmla="val 5000"/>
            </a:avLst>
          </a:prstGeom>
          <a:solidFill>
            <a:srgbClr val="16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1968" y="2212848"/>
            <a:ext cx="4855464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1" i="0" spc="120">
                <a:solidFill>
                  <a:srgbClr val="8FC1D6"/>
                </a:solidFill>
                <a:latin typeface="Apple SD Gothic Neo"/>
                <a:ea typeface="Apple SD Gothic Neo"/>
                <a:cs typeface="Apple SD Gothic Neo"/>
              </a:rPr>
              <a:t>취약 (BEFORE) — uds.c:252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2487168"/>
            <a:ext cx="4837176" cy="1042415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860" b="0" i="0">
                <a:solidFill>
                  <a:srgbClr val="D6DCE6"/>
                </a:solidFill>
                <a:latin typeface="Menlo"/>
                <a:ea typeface="Menlo"/>
                <a:cs typeface="Menlo"/>
              </a:rPr>
              <a:t>case 0x36: {  // TransferData</a:t>
            </a:r>
          </a:p>
          <a:p>
            <a:pPr algn="l">
              <a:lnSpc>
                <a:spcPct val="112000"/>
              </a:lnSpc>
              <a:spcBef>
                <a:spcPts val="250"/>
              </a:spcBef>
            </a:pPr>
            <a:r>
              <a:rPr sz="860" b="0" i="0">
                <a:solidFill>
                  <a:srgbClr val="D6DCE6"/>
                </a:solidFill>
                <a:latin typeface="Menlo"/>
                <a:ea typeface="Menlo"/>
                <a:cs typeface="Menlo"/>
              </a:rPr>
              <a:t>  uint16_t chunk_len = len - 2;     // attacker-controlled</a:t>
            </a:r>
          </a:p>
          <a:p>
            <a:pPr algn="l">
              <a:lnSpc>
                <a:spcPct val="112000"/>
              </a:lnSpc>
              <a:spcBef>
                <a:spcPts val="250"/>
              </a:spcBef>
            </a:pPr>
            <a:r>
              <a:rPr sz="860" b="0" i="0">
                <a:solidFill>
                  <a:srgbClr val="E0A0A0"/>
                </a:solidFill>
                <a:latin typeface="Menlo"/>
                <a:ea typeface="Menlo"/>
                <a:cs typeface="Menlo"/>
              </a:rPr>
              <a:t>  // (no per-block check)</a:t>
            </a:r>
          </a:p>
          <a:p>
            <a:pPr algn="l">
              <a:lnSpc>
                <a:spcPct val="112000"/>
              </a:lnSpc>
              <a:spcBef>
                <a:spcPts val="250"/>
              </a:spcBef>
            </a:pPr>
            <a:r>
              <a:rPr sz="860" b="0" i="0">
                <a:solidFill>
                  <a:srgbClr val="D6DCE6"/>
                </a:solidFill>
                <a:latin typeface="Menlo"/>
                <a:ea typeface="Menlo"/>
                <a:cs typeface="Menlo"/>
              </a:rPr>
              <a:t>  uint8_t  padded[260];</a:t>
            </a:r>
          </a:p>
          <a:p>
            <a:pPr algn="l">
              <a:lnSpc>
                <a:spcPct val="112000"/>
              </a:lnSpc>
              <a:spcBef>
                <a:spcPts val="250"/>
              </a:spcBef>
            </a:pPr>
            <a:r>
              <a:rPr sz="860" b="0" i="0">
                <a:solidFill>
                  <a:srgbClr val="F2C6C6"/>
                </a:solidFill>
                <a:latin typeface="Menlo"/>
                <a:ea typeface="Menlo"/>
                <a:cs typeface="Menlo"/>
              </a:rPr>
              <a:t>  memset(padded, 0xFF, write_len);  // 264 &gt; 260</a:t>
            </a:r>
          </a:p>
          <a:p>
            <a:pPr algn="l">
              <a:lnSpc>
                <a:spcPct val="112000"/>
              </a:lnSpc>
              <a:spcBef>
                <a:spcPts val="250"/>
              </a:spcBef>
            </a:pPr>
            <a:r>
              <a:rPr sz="860" b="0" i="0">
                <a:solidFill>
                  <a:srgbClr val="F2C6C6"/>
                </a:solidFill>
                <a:latin typeface="Menlo"/>
                <a:ea typeface="Menlo"/>
                <a:cs typeface="Menlo"/>
              </a:rPr>
              <a:t>  memcpy(padded, chunk, chunk_len); //  OOB WRITE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749039"/>
            <a:ext cx="5221224" cy="841248"/>
          </a:xfrm>
          <a:prstGeom prst="roundRect">
            <a:avLst>
              <a:gd name="adj" fmla="val 5000"/>
            </a:avLst>
          </a:prstGeom>
          <a:solidFill>
            <a:srgbClr val="16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8" y="3858768"/>
            <a:ext cx="4855464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1" i="0" spc="120">
                <a:solidFill>
                  <a:srgbClr val="8FC1D6"/>
                </a:solidFill>
                <a:latin typeface="Apple SD Gothic Neo"/>
                <a:ea typeface="Apple SD Gothic Neo"/>
                <a:cs typeface="Apple SD Gothic Neo"/>
              </a:rPr>
              <a:t>수정 (AFTER) — chunk_len &gt; 256 → NRC 0x31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4133087"/>
            <a:ext cx="483717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860" b="0" i="0">
                <a:solidFill>
                  <a:srgbClr val="D6DCE6"/>
                </a:solidFill>
                <a:latin typeface="Menlo"/>
                <a:ea typeface="Menlo"/>
                <a:cs typeface="Menlo"/>
              </a:rPr>
              <a:t>  uint16_t chunk_len = len - 2;</a:t>
            </a:r>
          </a:p>
          <a:p>
            <a:pPr algn="l">
              <a:lnSpc>
                <a:spcPct val="112000"/>
              </a:lnSpc>
              <a:spcBef>
                <a:spcPts val="250"/>
              </a:spcBef>
            </a:pPr>
            <a:r>
              <a:rPr sz="860" b="0" i="0">
                <a:solidFill>
                  <a:srgbClr val="BFE3CF"/>
                </a:solidFill>
                <a:latin typeface="Menlo"/>
                <a:ea typeface="Menlo"/>
                <a:cs typeface="Menlo"/>
              </a:rPr>
              <a:t>  if (chunk_len &gt; 256) {            // per-block guard</a:t>
            </a:r>
          </a:p>
          <a:p>
            <a:pPr algn="l">
              <a:lnSpc>
                <a:spcPct val="112000"/>
              </a:lnSpc>
              <a:spcBef>
                <a:spcPts val="250"/>
              </a:spcBef>
            </a:pPr>
            <a:r>
              <a:rPr sz="860" b="0" i="0">
                <a:solidFill>
                  <a:srgbClr val="BFE3CF"/>
                </a:solidFill>
                <a:latin typeface="Menlo"/>
                <a:ea typeface="Menlo"/>
                <a:cs typeface="Menlo"/>
              </a:rPr>
              <a:t>    nrc(sid, 0x31); break; }         // protects padded[260]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718304"/>
            <a:ext cx="5221224" cy="694944"/>
          </a:xfrm>
          <a:prstGeom prst="roundRect">
            <a:avLst>
              <a:gd name="adj" fmla="val 6000"/>
            </a:avLst>
          </a:prstGeom>
          <a:solidFill>
            <a:srgbClr val="ECF4EF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l">
              <a:lnSpc>
                <a:spcPct val="124000"/>
              </a:lnSpc>
            </a:pPr>
            <a:r>
              <a:rPr sz="100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검증  </a:t>
            </a: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원 PoC(261B) 재생 클린  ·  재퍼징 1.4M회 무크래시  ·  Ceedling 회귀 test_uds_state 30/30 PASS  → </a:t>
            </a:r>
            <a:r>
              <a:rPr sz="93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ISS-SEC-004 (8D)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760720"/>
            <a:ext cx="11055096" cy="512064"/>
          </a:xfrm>
          <a:prstGeom prst="roundRect">
            <a:avLst>
              <a:gd name="adj" fmla="val 7000"/>
            </a:avLst>
          </a:prstGeom>
          <a:solidFill>
            <a:srgbClr val="16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5760720"/>
            <a:ext cx="10616184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8FC1D6"/>
                </a:solidFill>
                <a:latin typeface="Apple SD Gothic Neo"/>
                <a:ea typeface="Apple SD Gothic Neo"/>
                <a:cs typeface="Apple SD Gothic Neo"/>
              </a:rPr>
              <a:t>핵심   </a:t>
            </a:r>
            <a:r>
              <a:rPr sz="105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내가 직접 설계한 endless-data 방어가 놓친 신규 취약점을, 커버리지 퍼징이 1초 내 발굴 — 시나리오의 사각을 퍼징이 메웠다.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7824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118872" cy="118872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29768"/>
            <a:ext cx="10789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 i="0" spc="16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FINDINGS · 트리아지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108813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또 하나의 잠복 결함, 그리고 “모든 크래시가 취약점은 아니다”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822960" cy="41148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66928" y="1307592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446520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83096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Automotive Secure OTA — Offensive Testing &amp; Fuzzing   ·   임재형 포트폴리오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83096"/>
            <a:ext cx="22860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08 /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481328"/>
            <a:ext cx="5440680" cy="21396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A33A3A"/>
                </a:solidFill>
                <a:latin typeface="Apple SD Gothic Neo"/>
                <a:ea typeface="Apple SD Gothic Neo"/>
                <a:cs typeface="Apple SD Gothic Neo"/>
              </a:rPr>
              <a:t>F-002  </a:t>
            </a:r>
            <a:r>
              <a:rPr sz="12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sha256.c 부호 있는 좌측 시프트 (UB)</a:t>
            </a:r>
          </a:p>
          <a:p>
            <a:pPr algn="l">
              <a:spcAft>
                <a:spcPts val="700"/>
              </a:spcAft>
            </a:pPr>
            <a:r>
              <a:rPr sz="9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CWE-190 계열 · (A) 실 코드 결함 · 심각도 낮음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" y="2212848"/>
            <a:ext cx="5038344" cy="566928"/>
          </a:xfrm>
          <a:prstGeom prst="roundRect">
            <a:avLst>
              <a:gd name="adj" fmla="val 5000"/>
            </a:avLst>
          </a:prstGeom>
          <a:solidFill>
            <a:srgbClr val="16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22576"/>
            <a:ext cx="4654296" cy="3657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840" b="0" i="0">
                <a:solidFill>
                  <a:srgbClr val="F2C6C6"/>
                </a:solidFill>
                <a:latin typeface="Menlo"/>
                <a:ea typeface="Menlo"/>
                <a:cs typeface="Menlo"/>
              </a:rPr>
              <a:t>(data[j] &lt;&lt; 24)   // 0xA5(uint8-&gt;int) &lt;&lt; 24 = UB</a:t>
            </a:r>
          </a:p>
          <a:p>
            <a:pPr algn="l">
              <a:lnSpc>
                <a:spcPct val="112000"/>
              </a:lnSpc>
              <a:spcBef>
                <a:spcPts val="250"/>
              </a:spcBef>
            </a:pPr>
            <a:r>
              <a:rPr sz="840" b="0" i="0">
                <a:solidFill>
                  <a:srgbClr val="BFE3CF"/>
                </a:solidFill>
                <a:latin typeface="Menlo"/>
                <a:ea typeface="Menlo"/>
                <a:cs typeface="Menlo"/>
              </a:rPr>
              <a:t>(WORD)data[j] &lt;&lt; 24   // fix: cast to unsigned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07792"/>
            <a:ext cx="5074920" cy="3657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UBSAN이 표면화</a:t>
            </a:r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정상 단위테스트는 모두 통과하던 코드 — 새니타이저가 잠복 UB를 그 순간 드러냄</a:t>
            </a:r>
          </a:p>
          <a:p>
            <a:pPr algn="l">
              <a:lnSpc>
                <a:spcPct val="118000"/>
              </a:lnSpc>
              <a:spcBef>
                <a:spcPts val="600"/>
              </a:spcBef>
            </a:pPr>
            <a:r>
              <a:rPr sz="9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범위·조치</a:t>
            </a:r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Sensor·Bootloader·Drive 3개 사본 동일 수정 · test_hmac(RFC 4231) 3/3 회귀 PASS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481328"/>
            <a:ext cx="5358384" cy="2139696"/>
          </a:xfrm>
          <a:prstGeom prst="roundRect">
            <a:avLst>
              <a:gd name="adj" fmla="val 5000"/>
            </a:avLst>
          </a:prstGeom>
          <a:solidFill>
            <a:srgbClr val="FBF4EA"/>
          </a:solidFill>
          <a:ln w="12700">
            <a:solidFill>
              <a:srgbClr val="A86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A86A2C"/>
                </a:solidFill>
                <a:latin typeface="Apple SD Gothic Neo"/>
                <a:ea typeface="Apple SD Gothic Neo"/>
                <a:cs typeface="Apple SD Gothic Neo"/>
              </a:rPr>
              <a:t>F-001  </a:t>
            </a:r>
            <a:r>
              <a:rPr sz="12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이미지 헤더 경계 초과 읽기</a:t>
            </a:r>
          </a:p>
          <a:p>
            <a:pPr algn="l">
              <a:spcAft>
                <a:spcPts val="800"/>
              </a:spcAft>
            </a:pPr>
            <a:r>
              <a:rPr sz="9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CWE-125 · (B) 하니스/계약 산물 · 비악용</a:t>
            </a:r>
          </a:p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98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운영 호출부는 항상 </a:t>
            </a:r>
            <a:r>
              <a:rPr sz="98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플래시 슬롯 포인터(≥ 헤더 크기)</a:t>
            </a:r>
            <a:r>
              <a:rPr sz="98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를 넘기므로 실기기 미발생.</a:t>
            </a:r>
          </a:p>
          <a:p>
            <a:pPr algn="l">
              <a:lnSpc>
                <a:spcPct val="126000"/>
              </a:lnSpc>
            </a:pPr>
            <a:r>
              <a:rPr sz="980" b="1" i="0">
                <a:solidFill>
                  <a:srgbClr val="A86A2C"/>
                </a:solidFill>
                <a:latin typeface="Apple SD Gothic Neo"/>
                <a:ea typeface="Apple SD Gothic Neo"/>
                <a:cs typeface="Apple SD Gothic Neo"/>
              </a:rPr>
              <a:t>→ </a:t>
            </a:r>
            <a:r>
              <a:rPr sz="98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하니스 전제(precondition)로 반영하고 '방어적 보강 후보(낮음)'로만 등재 — 즉시 변경 안 함.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858768"/>
            <a:ext cx="11055096" cy="457200"/>
          </a:xfrm>
          <a:prstGeom prst="roundRect">
            <a:avLst>
              <a:gd name="adj" fmla="val 6000"/>
            </a:avLst>
          </a:prstGeom>
          <a:solidFill>
            <a:srgbClr val="16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858768"/>
            <a:ext cx="10616184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8FC1D6"/>
                </a:solidFill>
                <a:latin typeface="Apple SD Gothic Neo"/>
                <a:ea typeface="Apple SD Gothic Neo"/>
                <a:cs typeface="Apple SD Gothic Neo"/>
              </a:rPr>
              <a:t>트리아지 원칙   </a:t>
            </a:r>
            <a:r>
              <a:rPr sz="1000" b="0" i="0">
                <a:solidFill>
                  <a:srgbClr val="D6DCE6"/>
                </a:solidFill>
                <a:latin typeface="Apple SD Gothic Neo"/>
                <a:ea typeface="Apple SD Gothic Neo"/>
                <a:cs typeface="Apple SD Gothic Neo"/>
              </a:rPr>
              <a:t>재현(스택·접근유형) → 분류(실결함 A / 계약 산물 B) → CWE·심각도 부여 → 중복 제거 → 8D 문서화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572000"/>
            <a:ext cx="11055096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이 규율이 보여주는 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956048"/>
            <a:ext cx="3611880" cy="1225296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91440"/>
          <a:lstStyle/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악용성 중심 판단</a:t>
            </a:r>
          </a:p>
          <a:p>
            <a:pPr algn="l">
              <a:lnSpc>
                <a:spcPct val="126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스택트레이스만 보고 '취약점'이라 외치지 않고, 운영 호출부 기준으로 실제 악용 가능성을 판정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4956048"/>
            <a:ext cx="3611880" cy="1225296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91440"/>
          <a:lstStyle/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거짓양성 비용 인식</a:t>
            </a:r>
          </a:p>
          <a:p>
            <a:pPr algn="l">
              <a:lnSpc>
                <a:spcPct val="126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(B) 산물을 실결함과 섞으면 신뢰를 잃음 — 분류 근거를 CWE로 남겨 재현·검토 가능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9871" y="4956048"/>
            <a:ext cx="3611880" cy="1225296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91440"/>
          <a:lstStyle/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발견을 자산으로</a:t>
            </a:r>
          </a:p>
          <a:p>
            <a:pPr algn="l">
              <a:lnSpc>
                <a:spcPct val="126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모든 결함을 8D(ISS)로 문서화하고 요구·위협·테스트에 추적 연결 — 1회성 크래시가 아닌 재발 방지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7824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118872" cy="118872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29768"/>
            <a:ext cx="10789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 i="0" spc="16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PROCESS · 결함 처리 루프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108813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발견을 끝까지 닫는다 — find → fix → prove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822960" cy="41148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66928" y="1307592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446520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83096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Automotive Secure OTA — Offensive Testing &amp; Fuzzing   ·   임재형 포트폴리오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83096"/>
            <a:ext cx="22860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09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0"/>
            <a:ext cx="11055096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크래시를 찾는 데서 끝내지 않고, </a:t>
            </a:r>
            <a:r>
              <a:rPr sz="11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순수 로직 수정 → 회귀 케이스 → 동일 하니스 재퍼징 무재현</a:t>
            </a:r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까지 닫아 방어를 입증했습니다.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1031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A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발견 (A)</a:t>
            </a:r>
          </a:p>
          <a:p>
            <a:pPr algn="ctr">
              <a:lnSpc>
                <a:spcPct val="116000"/>
              </a:lnSpc>
            </a:pPr>
            <a:r>
              <a:rPr sz="850" b="0" i="0">
                <a:solidFill>
                  <a:srgbClr val="D6DCE6"/>
                </a:solidFill>
                <a:latin typeface="Apple SD Gothic Neo"/>
                <a:ea typeface="Apple SD Gothic Neo"/>
                <a:cs typeface="Apple SD Gothic Neo"/>
              </a:rPr>
              <a:t>퍼징 크래시 → 트리아지 실결함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8608" y="2414015"/>
            <a:ext cx="36576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300" b="1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79776" y="21031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순수 로직 수정</a:t>
            </a:r>
          </a:p>
          <a:p>
            <a:pPr algn="ctr">
              <a:lnSpc>
                <a:spcPct val="116000"/>
              </a:lnSpc>
            </a:pPr>
            <a:r>
              <a:rPr sz="850" b="0" i="0">
                <a:solidFill>
                  <a:srgbClr val="D6DCE6"/>
                </a:solidFill>
                <a:latin typeface="Apple SD Gothic Neo"/>
                <a:ea typeface="Apple SD Gothic Neo"/>
                <a:cs typeface="Apple SD Gothic Neo"/>
              </a:rPr>
              <a:t>HAL과 분리된 코어에 가드 추가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91456" y="2414015"/>
            <a:ext cx="36576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300" b="1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92624" y="21031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회귀 케이스</a:t>
            </a:r>
          </a:p>
          <a:p>
            <a:pPr algn="ctr">
              <a:lnSpc>
                <a:spcPct val="116000"/>
              </a:lnSpc>
            </a:pPr>
            <a:r>
              <a:rPr sz="850" b="0" i="0">
                <a:solidFill>
                  <a:srgbClr val="D6DCE6"/>
                </a:solidFill>
                <a:latin typeface="Apple SD Gothic Neo"/>
                <a:ea typeface="Apple SD Gothic Neo"/>
                <a:cs typeface="Apple SD Gothic Neo"/>
              </a:rPr>
              <a:t>Ceedling test 추가 → 그린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04304" y="2414015"/>
            <a:ext cx="36576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300" b="1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05472" y="21031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재퍼징</a:t>
            </a:r>
          </a:p>
          <a:p>
            <a:pPr algn="ctr">
              <a:lnSpc>
                <a:spcPct val="116000"/>
              </a:lnSpc>
            </a:pPr>
            <a:r>
              <a:rPr sz="850" b="0" i="0">
                <a:solidFill>
                  <a:srgbClr val="D6DCE6"/>
                </a:solidFill>
                <a:latin typeface="Apple SD Gothic Neo"/>
                <a:ea typeface="Apple SD Gothic Neo"/>
                <a:cs typeface="Apple SD Gothic Neo"/>
              </a:rPr>
              <a:t>동일 하니스 무재현 = 방어 입증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2" y="2414015"/>
            <a:ext cx="36576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300" b="1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18320" y="21031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잔여 연결</a:t>
            </a:r>
          </a:p>
          <a:p>
            <a:pPr algn="ctr">
              <a:lnSpc>
                <a:spcPct val="116000"/>
              </a:lnSpc>
            </a:pPr>
            <a:r>
              <a:rPr sz="850" b="0" i="0">
                <a:solidFill>
                  <a:srgbClr val="D6DCE6"/>
                </a:solidFill>
                <a:latin typeface="Apple SD Gothic Neo"/>
                <a:ea typeface="Apple SD Gothic Neo"/>
                <a:cs typeface="Apple SD Gothic Neo"/>
              </a:rPr>
              <a:t>위험 레지스터 · 8D(ISS)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456432"/>
            <a:ext cx="11055096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추적성 — 퍼즈 타깃 ↔ 요구 ↔ 위협 ↔ 결과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22191"/>
            <a:ext cx="11055096" cy="384048"/>
          </a:xfrm>
          <a:prstGeom prst="rect">
            <a:avLst/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822191"/>
            <a:ext cx="2642615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퍼즈 타깃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47288" y="3822191"/>
            <a:ext cx="2962656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요구 (SRS)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6248" y="3822191"/>
            <a:ext cx="1499616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위협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2168" y="3822191"/>
            <a:ext cx="3364991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결과 / Finding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4206240"/>
            <a:ext cx="11055096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4206240"/>
            <a:ext cx="265176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FH-1 헤더 파서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47288" y="4206240"/>
            <a:ext cx="297180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SR-FW-002 · FR-AB-008 · FR-CAN-011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56248" y="4206240"/>
            <a:ext cx="150876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변조·다운그레이드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02168" y="4206240"/>
            <a:ext cx="3374136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0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F-001 (B) — 분기 커버, 운영결함 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26864"/>
            <a:ext cx="11055096" cy="42062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4626864"/>
            <a:ext cx="265176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FH-3 UDS 다운로드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47288" y="4626864"/>
            <a:ext cx="297180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FR-CAN-012/013 · SR-ATK-007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56248" y="4626864"/>
            <a:ext cx="150876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endless-data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02168" y="4626864"/>
            <a:ext cx="3374136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1" i="0">
                <a:solidFill>
                  <a:srgbClr val="A33A3A"/>
                </a:solidFill>
                <a:latin typeface="Apple SD Gothic Neo"/>
                <a:ea typeface="Apple SD Gothic Neo"/>
                <a:cs typeface="Apple SD Gothic Neo"/>
              </a:rPr>
              <a:t>F-003 — CWE-787 발견·수정·재퍼징 클린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5047488"/>
            <a:ext cx="11055096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5047488"/>
            <a:ext cx="265176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(crypto 경로)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47288" y="5047488"/>
            <a:ext cx="297180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FR-CAN-010 SecurityAccess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56248" y="5047488"/>
            <a:ext cx="150876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변조 무결성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02168" y="5047488"/>
            <a:ext cx="3374136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0" i="0">
                <a:solidFill>
                  <a:srgbClr val="A33A3A"/>
                </a:solidFill>
                <a:latin typeface="Apple SD Gothic Neo"/>
                <a:ea typeface="Apple SD Gothic Neo"/>
                <a:cs typeface="Apple SD Gothic Neo"/>
              </a:rPr>
              <a:t>F-002 — sha256 UB 수정 (3개 사본)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5468112"/>
            <a:ext cx="11055096" cy="42062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5468112"/>
            <a:ext cx="265176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1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FH-2 메타 파서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47288" y="5468112"/>
            <a:ext cx="297180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FR-AB-005 (전원차단 견고성)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56248" y="5468112"/>
            <a:ext cx="150876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02168" y="5468112"/>
            <a:ext cx="3374136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계획 (후속)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66928" y="5888736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566928" y="5797296"/>
            <a:ext cx="11055096" cy="475488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표준 근거   </a:t>
            </a: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ISO/SAE 21434 §10.4 — 퍼즈를 사이버보안 검증 방법으로 권고   ·   ASPICE for Cybersecurity SEC.3 (Risk Treatment Verification)   ·   ISO/IEC/IEEE 29119-3 (테스트 문서)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7824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118872" cy="118872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29768"/>
            <a:ext cx="10789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 i="0" spc="16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FIT · 직무 적합성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108813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FESCARO RED팀 요건에 이 프로젝트가 답하는 방식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822960" cy="41148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66928" y="1307592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446520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83096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Automotive Secure OTA — Offensive Testing &amp; Fuzzing   ·   임재형 포트폴리오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83096"/>
            <a:ext cx="22860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10 / 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481328"/>
            <a:ext cx="11055096" cy="384048"/>
          </a:xfrm>
          <a:prstGeom prst="rect">
            <a:avLst/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481328"/>
            <a:ext cx="3831335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FESCARO 채용 요건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1481328"/>
            <a:ext cx="6931152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 프로젝트의 증거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865376"/>
            <a:ext cx="11055096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1865376"/>
            <a:ext cx="3840479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임베디드 제어기 보안 테스트 (Pen·Fuzz)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7" y="1865376"/>
            <a:ext cx="6940296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STM32 ECU 공격 시나리오 10종 설계·8종 검증(on-target 5) + libFuzzer/ASAN 퍼징으로 CWE-787 발굴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377440"/>
            <a:ext cx="11055096" cy="51206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377440"/>
            <a:ext cx="3840479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바이너리(Firmware) 분석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7" y="2377440"/>
            <a:ext cx="6940296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서명 헤더·메타·UDS 파서 구조 분석, forge_image/forge_meta로 변조 입력 제작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89504"/>
            <a:ext cx="11055096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2889504"/>
            <a:ext cx="3840479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취약점 발굴 및 연구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36007" y="2889504"/>
            <a:ext cx="6940296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신규 결함 2건 발굴 · 트리아지(A/B·CWE·심각도) · 8D 문서화 · 재퍼징 입증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401568"/>
            <a:ext cx="11055096" cy="51206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401568"/>
            <a:ext cx="3840479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C · 파이썬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7" y="3401568"/>
            <a:ext cx="6940296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베어메탈 C 펌웨어(부트로더·UDS 스택) + Python 공격 도구·OTA 오케스트레이션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913632"/>
            <a:ext cx="11055096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3913632"/>
            <a:ext cx="3840479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문제 식별 · 분석 · 해결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36007" y="3913632"/>
            <a:ext cx="6940296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근본원인 규명 → 순수 로직 수정 → 회귀 → 재퍼징으로 닫는 검증 루프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6928" y="4425696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66928" y="4425696"/>
            <a:ext cx="11055096" cy="457200"/>
          </a:xfrm>
          <a:prstGeom prst="roundRect">
            <a:avLst>
              <a:gd name="adj" fmla="val 6000"/>
            </a:avLst>
          </a:prstGeom>
          <a:solidFill>
            <a:srgbClr val="FBF4EA"/>
          </a:solidFill>
          <a:ln w="12700">
            <a:solidFill>
              <a:srgbClr val="A86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4425696"/>
            <a:ext cx="1065276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A86A2C"/>
                </a:solidFill>
                <a:latin typeface="Apple SD Gothic Neo"/>
                <a:ea typeface="Apple SD Gothic Neo"/>
                <a:cs typeface="Apple SD Gothic Neo"/>
              </a:rPr>
              <a:t>우대사항 연결   </a:t>
            </a: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임베디드 개발 경험(STM32 펌웨어 직접 구현) · 취약점 발굴·문서화 · 문제 식별-분석-해결 루프   (버그바운티/CVE·대회 수상은 미보유 — 정직)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5084064"/>
            <a:ext cx="11055096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기술 스택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449824"/>
            <a:ext cx="1587764" cy="329184"/>
          </a:xfrm>
          <a:prstGeom prst="roundRect">
            <a:avLst>
              <a:gd name="adj" fmla="val 50000"/>
            </a:avLst>
          </a:prstGeom>
          <a:solidFill>
            <a:srgbClr val="F1F4F8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C (bare-metal)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73564" y="5449824"/>
            <a:ext cx="1869216" cy="329184"/>
          </a:xfrm>
          <a:prstGeom prst="roundRect">
            <a:avLst>
              <a:gd name="adj" fmla="val 50000"/>
            </a:avLst>
          </a:prstGeom>
          <a:solidFill>
            <a:srgbClr val="F1F4F8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STM32F446RE / HAL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61652" y="5449824"/>
            <a:ext cx="1869216" cy="329184"/>
          </a:xfrm>
          <a:prstGeom prst="roundRect">
            <a:avLst>
              <a:gd name="adj" fmla="val 50000"/>
            </a:avLst>
          </a:prstGeom>
          <a:solidFill>
            <a:srgbClr val="F1F4F8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Custom Bootloader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49741" y="5449824"/>
            <a:ext cx="2009942" cy="329184"/>
          </a:xfrm>
          <a:prstGeom prst="roundRect">
            <a:avLst>
              <a:gd name="adj" fmla="val 50000"/>
            </a:avLst>
          </a:prstGeom>
          <a:solidFill>
            <a:srgbClr val="F1F4F8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CAN · UDS · ISO-TP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78555" y="5449824"/>
            <a:ext cx="2479029" cy="329184"/>
          </a:xfrm>
          <a:prstGeom prst="roundRect">
            <a:avLst>
              <a:gd name="adj" fmla="val 50000"/>
            </a:avLst>
          </a:prstGeom>
          <a:solidFill>
            <a:srgbClr val="F1F4F8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ECDSA-P256 · SHA · HMAC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897880"/>
            <a:ext cx="1869216" cy="329184"/>
          </a:xfrm>
          <a:prstGeom prst="roundRect">
            <a:avLst>
              <a:gd name="adj" fmla="val 50000"/>
            </a:avLst>
          </a:prstGeom>
          <a:solidFill>
            <a:srgbClr val="F1F4F8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libFuzzer / AFL++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555016" y="5897880"/>
            <a:ext cx="1400129" cy="329184"/>
          </a:xfrm>
          <a:prstGeom prst="roundRect">
            <a:avLst>
              <a:gd name="adj" fmla="val 50000"/>
            </a:avLst>
          </a:prstGeom>
          <a:solidFill>
            <a:srgbClr val="F1F4F8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ASAN / UBSAN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74017" y="5897880"/>
            <a:ext cx="837224" cy="329184"/>
          </a:xfrm>
          <a:prstGeom prst="roundRect">
            <a:avLst>
              <a:gd name="adj" fmla="val 50000"/>
            </a:avLst>
          </a:prstGeom>
          <a:solidFill>
            <a:srgbClr val="F1F4F8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Python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30114" y="5897880"/>
            <a:ext cx="1775399" cy="329184"/>
          </a:xfrm>
          <a:prstGeom prst="roundRect">
            <a:avLst>
              <a:gd name="adj" fmla="val 50000"/>
            </a:avLst>
          </a:prstGeom>
          <a:solidFill>
            <a:srgbClr val="F1F4F8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Ceedling / Unity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924385" y="5897880"/>
            <a:ext cx="1493946" cy="329184"/>
          </a:xfrm>
          <a:prstGeom prst="roundRect">
            <a:avLst>
              <a:gd name="adj" fmla="val 50000"/>
            </a:avLst>
          </a:prstGeom>
          <a:solidFill>
            <a:srgbClr val="F1F4F8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Jenkins CI/CD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537204" y="5897880"/>
            <a:ext cx="2643210" cy="329184"/>
          </a:xfrm>
          <a:prstGeom prst="roundRect">
            <a:avLst>
              <a:gd name="adj" fmla="val 50000"/>
            </a:avLst>
          </a:prstGeom>
          <a:solidFill>
            <a:srgbClr val="F1F4F8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ISO/SAE 21434 · ASPICE-CS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7824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118872" cy="118872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29768"/>
            <a:ext cx="10789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 i="0" spc="16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LIMITS &amp; ROADMAP · 한계와 다음 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108813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한계를 숨기지 않고 다음 공격 표면을 정의했다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822960" cy="41148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66928" y="1307592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446520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83096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Automotive Secure OTA — Offensive Testing &amp; Fuzzing   ·   임재형 포트폴리오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83096"/>
            <a:ext cx="22860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11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81328"/>
            <a:ext cx="11055096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발견과 한계를 ADR·위험 레지스터로 박제</a:t>
            </a:r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하고, RED팀 관점에서 자연스러운 다음 단계를 제시합니다.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194560"/>
            <a:ext cx="5390388" cy="13533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09728" tIns="128016" bIns="91440"/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on-target 프로토콜 퍼징</a:t>
            </a:r>
          </a:p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지금은 소스레벨(호스트) 퍼징까지. 다음은 실차 CAN 위 UDS/ISO-TP 블랙박스 퍼징.</a:t>
            </a:r>
          </a:p>
          <a:p>
            <a:pPr algn="l"/>
            <a:r>
              <a:rPr sz="90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다음 도구 · </a:t>
            </a:r>
            <a:r>
              <a:rPr sz="9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scapy-automotive · caringcaribou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194560"/>
            <a:ext cx="91440" cy="1353312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31636" y="2194560"/>
            <a:ext cx="5390388" cy="13533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09728" tIns="128016" bIns="91440"/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Secure Element 통합</a:t>
            </a:r>
          </a:p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SecurityAccess seed=SW nonce·잠금=RAM의 한계를 하드웨어로 해소.</a:t>
            </a:r>
          </a:p>
          <a:p>
            <a:pPr algn="l"/>
            <a:r>
              <a:rPr sz="90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다음 도구 · </a:t>
            </a:r>
            <a:r>
              <a:rPr sz="9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ATECC608A — TRNG · monotonic counter · 키 저장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1636" y="2194560"/>
            <a:ext cx="91440" cy="1353312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6928" y="3712463"/>
            <a:ext cx="5390388" cy="13533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09728" tIns="128016" bIns="91440"/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replay / campaign 방어</a:t>
            </a:r>
          </a:p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세션/시퀀스 재생과 캠페인 무결성은 현재 잔여 위험.</a:t>
            </a:r>
          </a:p>
          <a:p>
            <a:pPr algn="l"/>
            <a:r>
              <a:rPr sz="90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다음 도구 · </a:t>
            </a:r>
            <a:r>
              <a:rPr sz="9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Uptane Image/Director 모델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712463"/>
            <a:ext cx="91440" cy="1353312"/>
          </a:xfrm>
          <a:prstGeom prst="rect">
            <a:avLst/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31636" y="3712463"/>
            <a:ext cx="5390388" cy="13533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09728" tIns="128016" bIns="91440"/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정적 분석 · 바이너리 하드닝</a:t>
            </a:r>
          </a:p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퍼징과 상보적인 결함 탐지 + 스택 보호 부재 완화.</a:t>
            </a:r>
          </a:p>
          <a:p>
            <a:pPr algn="l"/>
            <a:r>
              <a:rPr sz="90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다음 도구 · </a:t>
            </a:r>
            <a:r>
              <a:rPr sz="9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MISRA · 스택 카나리 / W^X 검토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1636" y="3712463"/>
            <a:ext cx="91440" cy="1353312"/>
          </a:xfrm>
          <a:prstGeom prst="rect">
            <a:avLst/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66928" y="5321808"/>
            <a:ext cx="11055096" cy="45720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5321808"/>
            <a:ext cx="11055096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100" b="1" i="0">
                <a:solidFill>
                  <a:srgbClr val="245A74"/>
                </a:solidFill>
                <a:latin typeface="Apple SD Gothic Neo"/>
                <a:ea typeface="Apple SD Gothic Neo"/>
                <a:cs typeface="Apple SD Gothic Neo"/>
              </a:rPr>
              <a:t>“한계를 명시하고 후속 경로를 제시하는 것 — 그것이 위협 모델을 끝까지 사고했다는 증거”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7824" cy="6967728"/>
          </a:xfrm>
          <a:prstGeom prst="rect">
            <a:avLst/>
          </a:prstGeom>
          <a:solidFill>
            <a:srgbClr val="16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868680"/>
            <a:ext cx="10424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 spc="300">
                <a:solidFill>
                  <a:srgbClr val="8FC1D6"/>
                </a:solidFill>
                <a:latin typeface="Apple SD Gothic Neo"/>
                <a:ea typeface="Apple SD Gothic Neo"/>
                <a:cs typeface="Apple SD Gothic Neo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325880"/>
            <a:ext cx="1051560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구축하고, 공격하고, 퍼징으로 찾아내고, 닫았다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95728"/>
            <a:ext cx="104241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40000"/>
              </a:lnSpc>
              <a:spcAft>
                <a:spcPts val="100"/>
              </a:spcAft>
            </a:pPr>
            <a:r>
              <a:rPr sz="1200" b="0" i="0">
                <a:solidFill>
                  <a:srgbClr val="D6DCE6"/>
                </a:solidFill>
                <a:latin typeface="Apple SD Gothic Neo"/>
                <a:ea typeface="Apple SD Gothic Neo"/>
                <a:cs typeface="Apple SD Gothic Neo"/>
              </a:rPr>
              <a:t>실차 Dual-ECU OTA를 직접 만들어 공격 시나리오로 방어선을 실증하고, 커버리지 가이드 퍼징으로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D6DCE6"/>
                </a:solidFill>
                <a:latin typeface="Apple SD Gothic Neo"/>
                <a:ea typeface="Apple SD Gothic Neo"/>
                <a:cs typeface="Apple SD Gothic Neo"/>
              </a:rPr>
              <a:t>시나리오가 놓친 메모리 취약점(CWE-787)까지 발굴·차단한 </a:t>
            </a:r>
            <a:r>
              <a:rPr sz="1200" b="1" i="0">
                <a:solidFill>
                  <a:srgbClr val="8FC1D6"/>
                </a:solidFill>
                <a:latin typeface="Apple SD Gothic Neo"/>
                <a:ea typeface="Apple SD Gothic Neo"/>
                <a:cs typeface="Apple SD Gothic Neo"/>
              </a:rPr>
              <a:t>공격-방어 양손잡이 프로젝트</a:t>
            </a:r>
            <a:r>
              <a:rPr sz="1200" b="0" i="0">
                <a:solidFill>
                  <a:srgbClr val="D6DCE6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529584"/>
            <a:ext cx="3383280" cy="969264"/>
          </a:xfrm>
          <a:prstGeom prst="roundRect">
            <a:avLst>
              <a:gd name="adj" fmla="val 7000"/>
            </a:avLst>
          </a:prstGeom>
          <a:solidFill>
            <a:srgbClr val="1E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</a:pPr>
            <a:r>
              <a:rPr sz="2300" b="1" i="0">
                <a:solidFill>
                  <a:srgbClr val="8FC1D6"/>
                </a:solidFill>
                <a:latin typeface="Apple SD Gothic Neo"/>
                <a:ea typeface="Apple SD Gothic Neo"/>
                <a:cs typeface="Apple SD Gothic Neo"/>
              </a:rPr>
              <a:t>8 / 10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D6DCE6"/>
                </a:solidFill>
                <a:latin typeface="Apple SD Gothic Neo"/>
                <a:ea typeface="Apple SD Gothic Neo"/>
                <a:cs typeface="Apple SD Gothic Neo"/>
              </a:rPr>
              <a:t>공격 시나리오 검증 / 설계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3529584"/>
            <a:ext cx="3383280" cy="969264"/>
          </a:xfrm>
          <a:prstGeom prst="roundRect">
            <a:avLst>
              <a:gd name="adj" fmla="val 7000"/>
            </a:avLst>
          </a:prstGeom>
          <a:solidFill>
            <a:srgbClr val="1E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</a:pPr>
            <a:r>
              <a:rPr sz="2300" b="1" i="0">
                <a:solidFill>
                  <a:srgbClr val="8FC1D6"/>
                </a:solidFill>
                <a:latin typeface="Apple SD Gothic Neo"/>
                <a:ea typeface="Apple SD Gothic Neo"/>
                <a:cs typeface="Apple SD Gothic Neo"/>
              </a:rPr>
              <a:t>2건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D6DCE6"/>
                </a:solidFill>
                <a:latin typeface="Apple SD Gothic Neo"/>
                <a:ea typeface="Apple SD Gothic Neo"/>
                <a:cs typeface="Apple SD Gothic Neo"/>
              </a:rPr>
              <a:t>퍼징 신규 결함 발굴·차단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3529584"/>
            <a:ext cx="3383280" cy="969264"/>
          </a:xfrm>
          <a:prstGeom prst="roundRect">
            <a:avLst>
              <a:gd name="adj" fmla="val 7000"/>
            </a:avLst>
          </a:prstGeom>
          <a:solidFill>
            <a:srgbClr val="1E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</a:pPr>
            <a:r>
              <a:rPr sz="2300" b="1" i="0">
                <a:solidFill>
                  <a:srgbClr val="8FC1D6"/>
                </a:solidFill>
                <a:latin typeface="Apple SD Gothic Neo"/>
                <a:ea typeface="Apple SD Gothic Neo"/>
                <a:cs typeface="Apple SD Gothic Neo"/>
              </a:rPr>
              <a:t>&lt; 1초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D6DCE6"/>
                </a:solidFill>
                <a:latin typeface="Apple SD Gothic Neo"/>
                <a:ea typeface="Apple SD Gothic Neo"/>
                <a:cs typeface="Apple SD Gothic Neo"/>
              </a:rPr>
              <a:t>CWE-787 스택오버플로 발견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8680" y="4983480"/>
            <a:ext cx="10469880" cy="0"/>
          </a:xfrm>
          <a:prstGeom prst="line">
            <a:avLst/>
          </a:prstGeom>
          <a:ln w="9525">
            <a:solidFill>
              <a:srgbClr val="245A7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68680" y="5175504"/>
            <a:ext cx="1042416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임재형  Jaehyeong Im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D6DCE6"/>
                </a:solidFill>
                <a:latin typeface="Apple SD Gothic Neo"/>
                <a:ea typeface="Apple SD Gothic Neo"/>
                <a:cs typeface="Apple SD Gothic Neo"/>
              </a:rPr>
              <a:t>Email      dlawogud517@gmail.com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8FC1D6"/>
                </a:solidFill>
                <a:latin typeface="Apple SD Gothic Neo"/>
                <a:ea typeface="Apple SD Gothic Neo"/>
                <a:cs typeface="Apple SD Gothic Neo"/>
                <a:hlinkClick r:id="rId2"/>
              </a:rPr>
              <a:t>▶  데모 영상   youtu.be/_RbVwU_nPHI</a:t>
            </a:r>
          </a:p>
          <a:p>
            <a:pPr algn="l"/>
            <a:r>
              <a:rPr sz="1150" b="0" i="0">
                <a:solidFill>
                  <a:srgbClr val="8FC1D6"/>
                </a:solidFill>
                <a:latin typeface="Apple SD Gothic Neo"/>
                <a:ea typeface="Apple SD Gothic Neo"/>
                <a:cs typeface="Apple SD Gothic Neo"/>
                <a:hlinkClick r:id="rId3"/>
              </a:rPr>
              <a:t>코드·문서   github.com/JaehyeongIm/automotive-secure-ota-ecu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