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_RbVwU_nPHI?si=XaKG5B_UvemBwbIF" TargetMode="External"/><Relationship Id="rId2" Type="http://schemas.openxmlformats.org/officeDocument/2006/relationships/hyperlink" Target="https://github.com/JaehyeongIm/automotive-secure-ota-ec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_RbVwU_nPHI?si=XaKG5B_UvemBwbIF" TargetMode="External"/><Relationship Id="rId2" Type="http://schemas.openxmlformats.org/officeDocument/2006/relationships/hyperlink" Target="https://github.com/JaehyeongIm/automotive-secure-ota-ecu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942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FIRMWARE  ENGINEERING  PORTFOLIO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 dirty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CAN </a:t>
            </a:r>
            <a:r>
              <a:rPr sz="4400" b="1" i="0" dirty="0" err="1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4400" b="1" i="0" dirty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 Secure OTA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4400" b="1" i="0" dirty="0" err="1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펌웨어</a:t>
            </a:r>
            <a:r>
              <a:rPr sz="4400" b="1" i="0" dirty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4400" b="1" i="0" dirty="0" err="1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업데이트</a:t>
            </a:r>
            <a:r>
              <a:rPr sz="4400" b="1" i="0" dirty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4400" b="1" i="0" dirty="0" err="1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파이프라인</a:t>
            </a:r>
            <a:endParaRPr sz="4400" b="1" i="0" dirty="0">
              <a:solidFill>
                <a:srgbClr val="16243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3310128"/>
            <a:ext cx="2194560" cy="4445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Dual ECU · UDS over ISO-TP · A/B Slot Rollback · </a:t>
            </a:r>
            <a:r>
              <a:rPr sz="1600" b="0" i="0" dirty="0" err="1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실차</a:t>
            </a:r>
            <a:r>
              <a:rPr sz="1600" b="0" i="0" dirty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RC </a:t>
            </a:r>
            <a:r>
              <a:rPr sz="1600" b="0" i="0" dirty="0" err="1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  <a:r>
              <a:rPr sz="1600" b="0" i="0" dirty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00" b="0" i="0" dirty="0" err="1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실증</a:t>
            </a:r>
            <a:endParaRPr sz="1600" b="0" i="0" dirty="0">
              <a:solidFill>
                <a:srgbClr val="262C35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4343400"/>
            <a:ext cx="1199692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11996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dirty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STM32F446RE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4676" y="4343400"/>
            <a:ext cx="1367942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14676" y="4343400"/>
            <a:ext cx="136794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dirty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ARM Cortex-M4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8922" y="4343400"/>
            <a:ext cx="2293315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8922" y="4343400"/>
            <a:ext cx="22933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dirty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Custom Secure Bootloader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8541" y="4343400"/>
            <a:ext cx="1788566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8541" y="4343400"/>
            <a:ext cx="178856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CAN / ISO-TP / UDS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3411" y="4343400"/>
            <a:ext cx="2293315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3411" y="4343400"/>
            <a:ext cx="22933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ECDSA-P256 · HMAC-SHA256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43030" y="4343400"/>
            <a:ext cx="1367942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43030" y="4343400"/>
            <a:ext cx="136794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Jenkins CI/CD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5394960"/>
            <a:ext cx="10561320" cy="0"/>
          </a:xfrm>
          <a:prstGeom prst="line">
            <a:avLst/>
          </a:prstGeom>
          <a:ln w="1270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5532120"/>
            <a:ext cx="1060704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dirty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임재형  Jaehyeong </a:t>
            </a:r>
            <a:r>
              <a:rPr sz="1500" b="1" i="0" dirty="0" err="1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Im</a:t>
            </a:r>
            <a:endParaRPr sz="1500" b="1" i="0" dirty="0">
              <a:solidFill>
                <a:srgbClr val="16243B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펌웨어</a:t>
            </a:r>
            <a:r>
              <a:rPr sz="1200" b="0" i="0" dirty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i="0" dirty="0" err="1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개발</a:t>
            </a:r>
            <a:r>
              <a:rPr sz="1200" b="0" i="0" dirty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·  dlawogud517@gmail.com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100" b="1" i="0" dirty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GitHub </a:t>
            </a:r>
            <a:r>
              <a:rPr lang="ko-KR" altLang="ko-KR" sz="1200" dirty="0" err="1">
                <a:hlinkClick r:id="rId2"/>
              </a:rPr>
              <a:t>https</a:t>
            </a:r>
            <a:r>
              <a:rPr lang="ko-KR" altLang="ko-KR" sz="1200" dirty="0">
                <a:hlinkClick r:id="rId2"/>
              </a:rPr>
              <a:t>://</a:t>
            </a:r>
            <a:r>
              <a:rPr lang="ko-KR" altLang="ko-KR" sz="1200" dirty="0" err="1">
                <a:hlinkClick r:id="rId2"/>
              </a:rPr>
              <a:t>github.com</a:t>
            </a:r>
            <a:r>
              <a:rPr lang="ko-KR" altLang="ko-KR" sz="1200" dirty="0">
                <a:hlinkClick r:id="rId2"/>
              </a:rPr>
              <a:t>/</a:t>
            </a:r>
            <a:r>
              <a:rPr lang="ko-KR" altLang="ko-KR" sz="1200" dirty="0" err="1">
                <a:hlinkClick r:id="rId2"/>
              </a:rPr>
              <a:t>JaehyeongIm</a:t>
            </a:r>
            <a:r>
              <a:rPr lang="ko-KR" altLang="ko-KR" sz="1200" dirty="0">
                <a:hlinkClick r:id="rId2"/>
              </a:rPr>
              <a:t>/</a:t>
            </a:r>
            <a:r>
              <a:rPr lang="ko-KR" altLang="ko-KR" sz="1200" dirty="0" err="1">
                <a:hlinkClick r:id="rId2"/>
              </a:rPr>
              <a:t>automotive-secure-ota-ecu</a:t>
            </a:r>
            <a:r>
              <a:rPr lang="ko-KR" altLang="ko-KR" sz="1200" dirty="0">
                <a:hlinkClick r:id="rId2"/>
              </a:rPr>
              <a:t> </a:t>
            </a:r>
            <a:endParaRPr lang="en-US" altLang="ko-KR" sz="1200" dirty="0"/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100" b="1" i="0" dirty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Demo </a:t>
            </a:r>
            <a:r>
              <a:rPr lang="ko-KR" altLang="ko-KR" sz="1200" dirty="0">
                <a:hlinkClick r:id="rId3"/>
              </a:rPr>
              <a:t>https://youtu.be/_RbVwU_nPHI?si=XaKG5B_UvemBwbIF</a:t>
            </a:r>
            <a:endParaRPr sz="1200" b="0" i="0" dirty="0">
              <a:solidFill>
                <a:srgbClr val="798290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01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프로젝트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Raspberry Pi 5를 차량 OTA Gateway 겸 CI/CD 서버로, STM32F446RE 2대를 차량 ECU로 구성하여 </a:t>
            </a:r>
            <a:r>
              <a:rPr sz="13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CAN 기반 Secure OTA 펌웨어 업데이트 파이프라인</a:t>
            </a:r>
            <a:r>
              <a:rPr sz="13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을 설계·구현하고 실물 RC 차량으로 실증한 임베디드 시스템.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286000"/>
            <a:ext cx="2599867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2 + 1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Dual ECU + 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6251" y="2286000"/>
            <a:ext cx="2599867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OTA 보안 검증 계층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4" y="2286000"/>
            <a:ext cx="2599867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공격 시나리오 방어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4897" y="2286000"/>
            <a:ext cx="2599867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1-push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git push → 배포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5760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핵심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86784"/>
            <a:ext cx="68580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전장 OTA 핵심 기능 실증</a:t>
            </a:r>
            <a:r>
              <a:rPr sz="12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Secure Boot·A/B Rollback·UDS 리프로그래밍·위협 방어를 실물로 검증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요구사항 기반 개발</a:t>
            </a:r>
            <a:r>
              <a:rPr sz="12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SRS→설계→구현→테스트→트러블슈팅 양방향 추적성(ASPICE 참고)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무중단 업데이트 실증</a:t>
            </a:r>
            <a:r>
              <a:rPr sz="12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App v1(즉시 정지)→v2(자동 후진) OTA, 주행 중 다운로드·IDLE 활성화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986784"/>
            <a:ext cx="3943807" cy="1993392"/>
          </a:xfrm>
          <a:prstGeom prst="roundRect">
            <a:avLst>
              <a:gd name="adj" fmla="val 6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범위와 관점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양산 ECU의 완전 재현이 아니라, 가용 플랫폼(F446RE·RPi5) 범위에서 Secure OTA의 핵심 설계 사고와 전장 펌웨어 역량을 증명하는 것을 목표로 함. 한계는 명시적으로 인정하고 개선 경로를 문서화.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02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03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27632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개발자 PC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소스 작성 · git push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2066543"/>
            <a:ext cx="502920" cy="0"/>
          </a:xfrm>
          <a:prstGeom prst="line">
            <a:avLst/>
          </a:prstGeom>
          <a:ln w="1905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79776" y="175564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627632"/>
            <a:ext cx="8268919" cy="868680"/>
          </a:xfrm>
          <a:prstGeom prst="roundRect">
            <a:avLst>
              <a:gd name="adj" fmla="val 6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Raspberry Pi 5   </a:t>
            </a:r>
            <a:r>
              <a:rPr sz="1200" b="0" i="0">
                <a:solidFill>
                  <a:srgbClr val="CFDDE6"/>
                </a:solidFill>
                <a:latin typeface="Apple SD Gothic Neo"/>
                <a:ea typeface="Apple SD Gothic Neo"/>
                <a:cs typeface="Apple SD Gothic Neo"/>
              </a:rPr>
              <a:t>OTA Gateway  +  Jenkins CI/CD 서버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FDDE6"/>
                </a:solidFill>
                <a:latin typeface="Apple SD Gothic Neo"/>
                <a:ea typeface="Apple SD Gothic Neo"/>
                <a:cs typeface="Apple SD Gothic Neo"/>
              </a:rPr>
              <a:t>ECU Inventory 수집 · IDLE 감지 후 전송 · 빌드/서명/배포 자동화 · CAN 송수신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9904" y="2496312"/>
            <a:ext cx="0" cy="411480"/>
          </a:xfrm>
          <a:prstGeom prst="line">
            <a:avLst/>
          </a:prstGeom>
          <a:ln w="1905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" y="2926080"/>
            <a:ext cx="11057839" cy="457200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92608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CAN Bus  ·  500 kbps  ·  SN65HVD230 Transceiver  ·  UDS over ISO-TP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39947" y="3383280"/>
            <a:ext cx="0" cy="320040"/>
          </a:xfrm>
          <a:prstGeom prst="line">
            <a:avLst/>
          </a:prstGeom>
          <a:ln w="1905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51746" y="3383280"/>
            <a:ext cx="0" cy="320040"/>
          </a:xfrm>
          <a:prstGeom prst="line">
            <a:avLst/>
          </a:prstGeom>
          <a:ln w="1905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3730752"/>
            <a:ext cx="5346039" cy="15544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DriveECU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Custom Bootloader · A/B Slot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B1 버튼 트리거 직진 주행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TB6612FNG 모터 PWM 제어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상태 보고 heartbeat 0x100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3730752"/>
            <a:ext cx="5346039" cy="15544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SensorECU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Custom Bootloader · A/B Slot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HC-SR04 장애물 감지 (10cm)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거리값 송신 0x200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Heartbeat 100ms 0x201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413248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CAN ID  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0x7E0/0x7E8 Drive UDS  ·  0x7E1/0x7E9 Sensor UDS  ·  0x100 Drive 상태  ·  0x200 거리  ·  0x201 Heartbeat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03  FLASH PARTITION &amp; A/B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Flash 메모리맵 &amp; A/B 슬롯 안전 업데이트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STM32F446RE — 단일 Flash 논리 분할 (Dual-Bank 미지원)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28800"/>
            <a:ext cx="5852160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828800"/>
            <a:ext cx="1542756" cy="384048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4004" y="1828800"/>
            <a:ext cx="2067950" cy="384048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4834" y="1828800"/>
            <a:ext cx="867507" cy="384048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5221" y="1828800"/>
            <a:ext cx="642424" cy="384048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섹터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12848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66928" y="2633472"/>
            <a:ext cx="5852160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2212848"/>
            <a:ext cx="1542756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4004" y="2212848"/>
            <a:ext cx="2067950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Bootloader (WRP)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4834" y="2212848"/>
            <a:ext cx="867507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32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5221" y="2212848"/>
            <a:ext cx="642424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0–1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33472"/>
            <a:ext cx="5852160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566928" y="3054096"/>
            <a:ext cx="5852160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2633472"/>
            <a:ext cx="1542756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0x08008000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4004" y="2633472"/>
            <a:ext cx="2067950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Metadata Copy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4834" y="2633472"/>
            <a:ext cx="867507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16 KB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5221" y="2633472"/>
            <a:ext cx="642424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054096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66928" y="3474720"/>
            <a:ext cx="5852160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054096"/>
            <a:ext cx="1542756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0x0800C000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4004" y="3054096"/>
            <a:ext cx="2067950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Metadata Copy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4834" y="3054096"/>
            <a:ext cx="867507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16 KB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5221" y="3054096"/>
            <a:ext cx="642424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474720"/>
            <a:ext cx="5852160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566928" y="3895344"/>
            <a:ext cx="5852160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3474720"/>
            <a:ext cx="1542756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0x08010000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84004" y="3474720"/>
            <a:ext cx="2067950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Slot A Application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4834" y="3474720"/>
            <a:ext cx="867507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192 KB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85221" y="3474720"/>
            <a:ext cx="642424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4–5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895344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566928" y="4315968"/>
            <a:ext cx="5852160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3895344"/>
            <a:ext cx="1542756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0x08040000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84004" y="3895344"/>
            <a:ext cx="2067950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Slot B Application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34834" y="3895344"/>
            <a:ext cx="867507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256 KB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5221" y="3895344"/>
            <a:ext cx="642424" cy="42062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6–7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526280"/>
            <a:ext cx="58521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Metadata 이중화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섹터 2·3 redundant + CRC32 + seq_counter, CRC를 마지막에 기록(원자적 commit)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비활성 슬롯에만 기록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현재 CONFIRMED 슬롯은 검증 완료 전까지 유지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Bootloader WRP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부트로더·공개키·PSK 영역 하드웨어 쓰기 잠금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4848" y="1481328"/>
            <a:ext cx="48399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A/B 슬롯 5상태 생명주기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84848" y="1865376"/>
            <a:ext cx="48399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INVALID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유효 이미지 없음 / 불량 마킹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204807" y="2414016"/>
            <a:ext cx="0" cy="73152"/>
          </a:xfrm>
          <a:prstGeom prst="line">
            <a:avLst/>
          </a:prstGeom>
          <a:ln w="1524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784848" y="2496312"/>
            <a:ext cx="4839919" cy="54864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UPDATING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이미지 기록 중 (erase·write)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04807" y="3044952"/>
            <a:ext cx="0" cy="73152"/>
          </a:xfrm>
          <a:prstGeom prst="line">
            <a:avLst/>
          </a:prstGeom>
          <a:ln w="1524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784848" y="3127248"/>
            <a:ext cx="48399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UPDATED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기록 완료 + 정적 검증 통과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204807" y="3675888"/>
            <a:ext cx="0" cy="73152"/>
          </a:xfrm>
          <a:prstGeom prst="line">
            <a:avLst/>
          </a:prstGeom>
          <a:ln w="1524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784848" y="3758184"/>
            <a:ext cx="4839919" cy="54864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TRIAL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시험 부팅 (attempt+1, Self-test)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204807" y="4306824"/>
            <a:ext cx="0" cy="73152"/>
          </a:xfrm>
          <a:prstGeom prst="line">
            <a:avLst/>
          </a:prstGeom>
          <a:ln w="1524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784848" y="4389120"/>
            <a:ext cx="48399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CONFIRMED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Self-test 통과 — known-good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84848" y="5038344"/>
            <a:ext cx="48399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근거 </a:t>
            </a: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ISO 24089 · AUTOSAR Adaptive UCM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04  CUSTOM SECURE BOOTLOADER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Custom Secure Bootloader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05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91056"/>
            <a:ext cx="5669280" cy="47548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Reset / 전원 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" y="2066544"/>
            <a:ext cx="0" cy="109728"/>
          </a:xfrm>
          <a:prstGeom prst="line">
            <a:avLst/>
          </a:prstGeom>
          <a:ln w="1651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2185416"/>
            <a:ext cx="5669280" cy="47548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Boot Metadata 확인 (magic · CRC32)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" y="2660904"/>
            <a:ext cx="0" cy="109728"/>
          </a:xfrm>
          <a:prstGeom prst="line">
            <a:avLst/>
          </a:prstGeom>
          <a:ln w="1651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2779776"/>
            <a:ext cx="5669280" cy="47548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active / confirmed 슬롯 선택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" y="3255264"/>
            <a:ext cx="0" cy="109728"/>
          </a:xfrm>
          <a:prstGeom prst="line">
            <a:avLst/>
          </a:prstGeom>
          <a:ln w="1651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3374136"/>
            <a:ext cx="5669280" cy="47548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App 유효성 검사 (Stack Pointer 범위)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" y="3849624"/>
            <a:ext cx="0" cy="109728"/>
          </a:xfrm>
          <a:prstGeom prst="line">
            <a:avLst/>
          </a:prstGeom>
          <a:ln w="1651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" y="3968496"/>
            <a:ext cx="5669280" cy="475488"/>
          </a:xfrm>
          <a:prstGeom prst="roundRect">
            <a:avLst>
              <a:gd name="adj" fmla="val 6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 ECDSA-P256 서명 검증 (SHA-256 해시)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" y="4443984"/>
            <a:ext cx="0" cy="109728"/>
          </a:xfrm>
          <a:prstGeom prst="line">
            <a:avLst/>
          </a:prstGeom>
          <a:ln w="1651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6928" y="4562856"/>
            <a:ext cx="5669280" cy="47548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IWDG 시작 (8초 워치독)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536" y="5038344"/>
            <a:ext cx="0" cy="109728"/>
          </a:xfrm>
          <a:prstGeom prst="line">
            <a:avLst/>
          </a:prstGeom>
          <a:ln w="1651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5157216"/>
            <a:ext cx="5669280" cy="47548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VTOR 재배치 → App Jump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769864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BF4EA"/>
          </a:solidFill>
          <a:ln w="12700">
            <a:solidFill>
              <a:srgbClr val="E6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검증 실패 시 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→ 반대 슬롯 Fallback → 모두 무효 시 Safe State(모터 정지·재플래싱 대기)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1591056"/>
            <a:ext cx="4977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신뢰성·보안 설계 포인트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1938528"/>
            <a:ext cx="4977079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uECC 직접 포팅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secp256r1 ECDSA 검증을 HAL·표준 C만으로 부트로더에 내장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자동 Fallback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서명/유효성 검증 실패 시 반대 CONFIRMED 슬롯으로 복구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3-strike Rollback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점프 직전 boot_attempt+1, 3회 초과 시 INVALID 마킹·롤백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IWDG 워치독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앱 무응답(hang·crash) 시 8초 후 리셋 → 복구 루프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VTOR 슬롯 무관 처리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g_pfnVectors 링커 심볼로 슬롯 전환 시 소스 수정 불필요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호스트 단위 테스트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슬롯 선택 로직을 HAL 분리 → Ceedling으로 PC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05  OTA SECURITY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OTA 보안 설계 — 7계층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06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54480"/>
            <a:ext cx="11057839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54480"/>
            <a:ext cx="2220998" cy="384048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보안 속성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2246" y="1554480"/>
            <a:ext cx="3422937" cy="384048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방어 기법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8063" y="1554480"/>
            <a:ext cx="4865263" cy="384048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 요점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938528"/>
            <a:ext cx="11057839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66928" y="2336292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1938528"/>
            <a:ext cx="2220998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무결성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2246" y="1938528"/>
            <a:ext cx="3422937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SHA-256 이미지 해시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8063" y="1938528"/>
            <a:ext cx="4865263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부트로더가 코드 해시 재계산·비교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336292"/>
            <a:ext cx="11057839" cy="39776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66928" y="2734056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2336292"/>
            <a:ext cx="2220998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인증성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2246" y="2336292"/>
            <a:ext cx="3422937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ECDSA-P256 서명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8063" y="2336292"/>
            <a:ext cx="4865263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uECC 직접 포팅, (헤더+코드) 서명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734056"/>
            <a:ext cx="11057839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566928" y="3131820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2734056"/>
            <a:ext cx="2220998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Anti-rollback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2246" y="2734056"/>
            <a:ext cx="3422937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firmware_version 비교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8063" y="2734056"/>
            <a:ext cx="4865263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현재 CONFIRMED 미만 버전 거부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131820"/>
            <a:ext cx="11057839" cy="39776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566928" y="352958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131820"/>
            <a:ext cx="2220998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SecurityAccess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2246" y="3131820"/>
            <a:ext cx="3422937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HMAC-SHA256(PSK, Seed)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8063" y="3131820"/>
            <a:ext cx="4865263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3회 실패 → NRC 0x36, 10초 잠금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529584"/>
            <a:ext cx="11057839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566928" y="3927348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3529584"/>
            <a:ext cx="2220998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ECU 식별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2246" y="3529584"/>
            <a:ext cx="3422937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target_ecu_id / hardware_id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8063" y="3529584"/>
            <a:ext cx="4865263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타 ECU·HW용 이미지 설치 거부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927348"/>
            <a:ext cx="11057839" cy="39776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566928" y="4325112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3927348"/>
            <a:ext cx="2220998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Replay 방어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2246" y="3927348"/>
            <a:ext cx="3422937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Session·Seq·Freshness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8063" y="3927348"/>
            <a:ext cx="4865263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이전 세션 프레임 재전송 거부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325112"/>
            <a:ext cx="11057839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566928" y="4722876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4325112"/>
            <a:ext cx="2220998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Uptane-lite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2246" y="4325112"/>
            <a:ext cx="3422937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Manifest 독립 검증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8063" y="4325112"/>
            <a:ext cx="4865263" cy="397764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Gateway 변조 가정에도 unsigned 거부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887468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키 관리   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공개키·PreSharedKey는 WRP 보호 부트로더 Flash(0x08007FE0)에 저장 · ECDSA 개인키는 ECU에 부재, Jenkins Credentials로만 관리(평문 노출 없음).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06  UDS over ISO-TP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UDS over ISO-TP — 차량 진단 리프로그래밍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07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프로토콜 스택 (C 직접 구현)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10512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UDS  진단 서비스</a:t>
            </a:r>
            <a:r>
              <a:rPr sz="1000" b="0" i="0">
                <a:solidFill>
                  <a:srgbClr val="DDE6EC"/>
                </a:solidFill>
                <a:latin typeface="Apple SD Gothic Neo"/>
                <a:ea typeface="Apple SD Gothic Neo"/>
                <a:cs typeface="Apple SD Gothic Neo"/>
              </a:rPr>
              <a:t>    0x10·0x27·0x34·0x36·0x37·0x11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487168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ISO-TP  전송 계층</a:t>
            </a:r>
            <a:r>
              <a:rPr sz="1000" b="0" i="0">
                <a:solidFill>
                  <a:srgbClr val="DDE6EC"/>
                </a:solidFill>
                <a:latin typeface="Apple SD Gothic Neo"/>
                <a:ea typeface="Apple SD Gothic Neo"/>
                <a:cs typeface="Apple SD Gothic Neo"/>
              </a:rPr>
              <a:t>    SF / FF / CF / FC · STmin · BlockSize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63824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CAN Classic</a:t>
            </a:r>
            <a:r>
              <a:rPr sz="1000" b="0" i="0">
                <a:solidFill>
                  <a:srgbClr val="DDE6EC"/>
                </a:solidFill>
                <a:latin typeface="Apple SD Gothic Neo"/>
                <a:ea typeface="Apple SD Gothic Neo"/>
                <a:cs typeface="Apple SD Gothic Neo"/>
              </a:rPr>
              <a:t>    500 kbps · 표준 11-bit ID · 8B payload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58768"/>
            <a:ext cx="5760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ISO-TP 수신 상태머신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SF/FF/CF/FC 프레임 조립을 ECU 펌웨어에 소프트웨어 구현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인터럽트 안전성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CAN ISR은 copy-only, UDS 처리는 메인 루프(동시성 분리)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블록 시퀀스 검증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TransferData 순서 오류 시 NRC 0x73 반환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1481328"/>
            <a:ext cx="4931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UDS 리프로그래밍 시퀀스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1810512"/>
            <a:ext cx="713232" cy="457200"/>
          </a:xfrm>
          <a:prstGeom prst="roundRect">
            <a:avLst>
              <a:gd name="adj" fmla="val 1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3408" y="1810512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0x10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1810512"/>
            <a:ext cx="40901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DiagnosticSessionControl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Extended 세션 진입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0024" y="2267712"/>
            <a:ext cx="0" cy="45720"/>
          </a:xfrm>
          <a:prstGeom prst="line">
            <a:avLst/>
          </a:prstGeom>
          <a:ln w="1397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93408" y="2340864"/>
            <a:ext cx="713232" cy="457200"/>
          </a:xfrm>
          <a:prstGeom prst="roundRect">
            <a:avLst>
              <a:gd name="adj" fmla="val 1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3408" y="2340864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0x27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340864"/>
            <a:ext cx="40901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SecurityAccess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Seed/Key 인증 (HMAC)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0024" y="2798064"/>
            <a:ext cx="0" cy="45720"/>
          </a:xfrm>
          <a:prstGeom prst="line">
            <a:avLst/>
          </a:prstGeom>
          <a:ln w="1397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93408" y="2871216"/>
            <a:ext cx="713232" cy="457200"/>
          </a:xfrm>
          <a:prstGeom prst="roundRect">
            <a:avLst>
              <a:gd name="adj" fmla="val 1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93408" y="2871216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0x34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6" y="2871216"/>
            <a:ext cx="40901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RequestDownload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비활성 슬롯 선택·Erase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50024" y="3328416"/>
            <a:ext cx="0" cy="45720"/>
          </a:xfrm>
          <a:prstGeom prst="line">
            <a:avLst/>
          </a:prstGeom>
          <a:ln w="1397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93408" y="3401568"/>
            <a:ext cx="713232" cy="457200"/>
          </a:xfrm>
          <a:prstGeom prst="roundRect">
            <a:avLst>
              <a:gd name="adj" fmla="val 1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93408" y="3401568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0x36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6" y="3401568"/>
            <a:ext cx="40901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TransferData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256 B/chunk 반복 기록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50024" y="3858768"/>
            <a:ext cx="0" cy="45720"/>
          </a:xfrm>
          <a:prstGeom prst="line">
            <a:avLst/>
          </a:prstGeom>
          <a:ln w="1397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93408" y="3931920"/>
            <a:ext cx="713232" cy="457200"/>
          </a:xfrm>
          <a:prstGeom prst="roundRect">
            <a:avLst>
              <a:gd name="adj" fmla="val 1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93408" y="3931920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0x37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6" y="3931920"/>
            <a:ext cx="40901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RequestTransferExit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메타 갱신·검증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50024" y="4389120"/>
            <a:ext cx="0" cy="45720"/>
          </a:xfrm>
          <a:prstGeom prst="line">
            <a:avLst/>
          </a:prstGeom>
          <a:ln w="1397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693408" y="4462272"/>
            <a:ext cx="713232" cy="457200"/>
          </a:xfrm>
          <a:prstGeom prst="roundRect">
            <a:avLst>
              <a:gd name="adj" fmla="val 1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93408" y="4462272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0x11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4462272"/>
            <a:ext cx="40901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ECUReset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새 슬롯 부팅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992624"/>
            <a:ext cx="4931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주요 NRC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0x35 invalidKey · 0x36 시도초과 · 0x73 블록순서 · 0x31 범위초과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07  THREAT MODEL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위협 모델 &amp; 공격 방어 검증 (10종)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08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11057839" cy="365760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1790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공격 시나리오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5057" y="151790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방어 기법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5300" y="151790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883664"/>
            <a:ext cx="11057839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66928" y="224942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188366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펌웨어 변조 (Tampering)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5057" y="188366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SHA-256 / 서명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5300" y="188366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1B 변조 거부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49424"/>
            <a:ext cx="11057839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66928" y="261518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224942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미서명 임의 이미지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5057" y="224942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 서명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5300" y="224942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unsigned 거부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15184"/>
            <a:ext cx="11057839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566928" y="298094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261518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다운그레이드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5057" y="261518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Anti-rollback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5300" y="261518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저버전 거부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566928" y="334670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298094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ECU 불일치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5057" y="298094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target_ecu_id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5300" y="298094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타 ECU 거부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346704"/>
            <a:ext cx="11057839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566928" y="371246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334670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Replay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5057" y="334670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Session·Seq·Freshness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75300" y="334670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재전송 거부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712464"/>
            <a:ext cx="11057839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566928" y="407822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371246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무단 업데이트·Brute force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5057" y="371246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SecurityAccess 3-strike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5300" y="371246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미인증 거부·10s 잠금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078224"/>
            <a:ext cx="11057839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566928" y="444398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407822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Endless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5057" y="407822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image_size·chunk 제한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75300" y="407822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초과 시 세션 종료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443984"/>
            <a:ext cx="11057839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566928" y="480974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8368" y="444398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CAN Flood / 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5057" y="444398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timeout·abort·rollback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75300" y="444398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기존 App 복구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809744"/>
            <a:ext cx="11057839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566928" y="517550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58368" y="480974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Fake Complete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5057" y="480974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ECU 내부 검증 commit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75300" y="480974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Gateway 명령만으론 미확정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5175504"/>
            <a:ext cx="11057839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Connector 60"/>
          <p:cNvCxnSpPr/>
          <p:nvPr/>
        </p:nvCxnSpPr>
        <p:spPr>
          <a:xfrm>
            <a:off x="566928" y="5541264"/>
            <a:ext cx="11057839" cy="0"/>
          </a:xfrm>
          <a:prstGeom prst="line">
            <a:avLst/>
          </a:prstGeom>
          <a:ln w="762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58368" y="5175504"/>
            <a:ext cx="3963809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Partial Bundle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5057" y="5175504"/>
            <a:ext cx="3687363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Campaign 결과 추적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75300" y="5175504"/>
            <a:ext cx="2858025" cy="36576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partial/fail 기록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08  DEEP-DIVE · LOW-LEVEL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저수준 펌웨어 디버깅 — VTOR / PRIMASK / IWDG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09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81328"/>
            <a:ext cx="11057839" cy="603504"/>
          </a:xfrm>
          <a:prstGeom prst="roundRect">
            <a:avLst>
              <a:gd name="adj" fmla="val 6000"/>
            </a:avLst>
          </a:prstGeom>
          <a:solidFill>
            <a:srgbClr val="FBF4EA"/>
          </a:solidFill>
          <a:ln w="12700">
            <a:solidFill>
              <a:srgbClr val="E6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증상   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 연동 후 DriveECU의 CAN·TIM2 인터럽트 완전 불능 — LD2 미점등, OTA 타임아웃 (main()은 실행, 인터럽트만 차단)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1284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진단 — 계측 기반 근본 원인 추적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523744"/>
            <a:ext cx="3564026" cy="877824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CAN 버스 모니터링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0x201(Sensor) 정상, 0x100(Drive) 부재 → Drive만 TX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3834" y="2523744"/>
            <a:ext cx="3564026" cy="877824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ST-LINK 콜스택 추적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TIM2 인터럽트가 앱 핸들러 대신 부트로더 영역(0x08000D18)으로 점프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0740" y="2523744"/>
            <a:ext cx="3564026" cy="877824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레지스터 확인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VTOR이 0x08000000(부트로더 벡터테이블)을 가리킴을 발견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8444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근본 원인 — 3중 결함 (순차 발견)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77056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① VTOR 오설정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VECT_TAB_OFFSET 기본값 0 → SystemInit이 VTOR을 부트로더로 설정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89120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② IWDG 미복원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디버깅 중 주석 처리 → 앱이 kick 못 함 → 8초 리셋 루프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01184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③ PRIMASK 미복원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부트로더 __disable_irq() 후 점프, 앱에서 재활성화 누락 → 인터럽트 차단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431536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ECF4EF"/>
          </a:solidFill>
          <a:ln w="12700">
            <a:solidFill>
              <a:srgbClr val="C6D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해결   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main() 진입 시 __enable_irq() 복원  ·  SCB-&gt;VTOR = &amp;g_pfnVectors(링커 심볼 → 슬롯 무관)  ·  MX_IWDG_Init() 복원 → 오실로스코프·ST-LINK로 PRIMASK=0 및 0x100 송신 재검증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09  SAFETY · DELAYED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dirty="0" err="1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Uptane</a:t>
            </a:r>
            <a:r>
              <a:rPr sz="2400" b="1" i="0" dirty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400" b="1" i="0" dirty="0" err="1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지연</a:t>
            </a:r>
            <a:r>
              <a:rPr sz="2400" b="1" i="0" dirty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  <a:r>
              <a:rPr sz="2400" b="1" i="0" dirty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 &amp; </a:t>
            </a:r>
            <a:r>
              <a:rPr sz="2400" b="1" i="0" dirty="0" err="1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기능안전</a:t>
            </a:r>
            <a:endParaRPr sz="2400" b="1" i="0" dirty="0">
              <a:solidFill>
                <a:srgbClr val="16243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783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주행 중 다운로드는 허용하되, </a:t>
            </a:r>
            <a:r>
              <a:rPr sz="1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펌웨어 활성화(재부팅)는 ECU가 IDLE일 때만 수행</a:t>
            </a:r>
            <a:r>
              <a:rPr sz="13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하여 주행 중 Flash 블로킹 위험을 원천 차단. (Uptane "안전조건 확인 후 설치" 원칙)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286000"/>
            <a:ext cx="2627299" cy="9601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TransferExit (0x37)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메타 갱신, active_slot 미변경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4227" y="2761488"/>
            <a:ext cx="182880" cy="0"/>
          </a:xfrm>
          <a:prstGeom prst="line">
            <a:avLst/>
          </a:prstGeom>
          <a:ln w="1905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77107" y="2286000"/>
            <a:ext cx="2627299" cy="9601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g_fw_pending = 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즉시 재부팅 안 함, 주행 지속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04406" y="2761488"/>
            <a:ext cx="182880" cy="0"/>
          </a:xfrm>
          <a:prstGeom prst="line">
            <a:avLst/>
          </a:prstGeom>
          <a:ln w="1905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7286" y="2286000"/>
            <a:ext cx="2627299" cy="9601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DRIVE_IDLE 진입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안전 조건 충족 확인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14585" y="2761488"/>
            <a:ext cx="182880" cy="0"/>
          </a:xfrm>
          <a:prstGeom prst="line">
            <a:avLst/>
          </a:prstGeom>
          <a:ln w="1905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97465" y="2286000"/>
            <a:ext cx="2627299" cy="9601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NVIC_SystemReset()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부트로더 → 새 슬롯 부팅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611880"/>
            <a:ext cx="6583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Flash Erase 구간만 모터 정지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RequestDownload(0x34) 처리 ~4초(g_ota_active)에만 정지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TransferData 중 주행 유지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drive_update() 제어 루프 ≤ 10ms 주기로 정상 동작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장애물 10cm 즉시 정지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Sensor 0x200 거리값 → Drive 장애물 플래그 반영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3847" cy="2148840"/>
          </a:xfrm>
          <a:prstGeom prst="roundRect">
            <a:avLst>
              <a:gd name="adj" fmla="val 6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Safe State 정의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CFDDE6"/>
                </a:solidFill>
                <a:latin typeface="Apple SD Gothic Neo"/>
                <a:ea typeface="Apple SD Gothic Neo"/>
                <a:cs typeface="Apple SD Gothic Neo"/>
              </a:rPr>
              <a:t>모터 정지  +  부트로더 대기  +  기존 CONFIRMED Slot 유지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FDDE6"/>
                </a:solidFill>
                <a:latin typeface="Apple SD Gothic Neo"/>
                <a:ea typeface="Apple SD Gothic Neo"/>
                <a:cs typeface="Apple SD Gothic Neo"/>
              </a:rPr>
              <a:t>업데이트 실패·검증 오류·통신 중단·워치독 리셋 등 모든 비정상 상황에서 진입.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200"/>
              </a:spcAft>
            </a:pPr>
            <a:r>
              <a:rPr sz="950" b="0" i="0">
                <a:solidFill>
                  <a:srgbClr val="AFC2CF"/>
                </a:solidFill>
                <a:latin typeface="Apple SD Gothic Neo"/>
                <a:ea typeface="Apple SD Gothic Neo"/>
                <a:cs typeface="Apple SD Gothic Neo"/>
              </a:rPr>
              <a:t>근거  ISO 26262 FTTI · Uptane · NFR-SAFE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10  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Jenkins CI/CD — git push 한 번으로 슬롯 전환까지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Raspberry Pi 5에서 운용 · GitHub Webhook 트리거 · 변경된 ECU만 선택 빌드/배포 · 실패 시 ECU는 이전 펌웨어 유지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" y="2103120"/>
            <a:ext cx="0" cy="4023360"/>
          </a:xfrm>
          <a:prstGeom prst="line">
            <a:avLst/>
          </a:prstGeom>
          <a:ln w="17780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2648" y="2084831"/>
            <a:ext cx="310896" cy="310896"/>
          </a:xfrm>
          <a:prstGeom prst="ellipse">
            <a:avLst/>
          </a:prstGeom>
          <a:solidFill>
            <a:srgbClr val="2E6E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048255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변경 ECU 감지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048255"/>
            <a:ext cx="67601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git diff로 Drive/Sensor 구분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" y="2656331"/>
            <a:ext cx="310896" cy="310896"/>
          </a:xfrm>
          <a:prstGeom prst="ellipse">
            <a:avLst/>
          </a:prstGeom>
          <a:solidFill>
            <a:srgbClr val="2E6E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619755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단위 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619755"/>
            <a:ext cx="67601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ceedling test:all — 실패 시 전체 차단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" y="3227831"/>
            <a:ext cx="310896" cy="310896"/>
          </a:xfrm>
          <a:prstGeom prst="ellipse">
            <a:avLst/>
          </a:prstGeom>
          <a:solidFill>
            <a:srgbClr val="2E6E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191255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정적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3191255"/>
            <a:ext cx="67601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cppcheck — error 등급 이상 중단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" y="3799331"/>
            <a:ext cx="310896" cy="310896"/>
          </a:xfrm>
          <a:prstGeom prst="ellipse">
            <a:avLst/>
          </a:prstGeom>
          <a:solidFill>
            <a:srgbClr val="2E6E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3762755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크로스컴파일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896" y="3762755"/>
            <a:ext cx="67601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arm-none-eabi-gcc · 슬롯별 링커스크립트</a:t>
            </a:r>
          </a:p>
        </p:txBody>
      </p:sp>
      <p:sp>
        <p:nvSpPr>
          <p:cNvPr id="25" name="Oval 24"/>
          <p:cNvSpPr/>
          <p:nvPr/>
        </p:nvSpPr>
        <p:spPr>
          <a:xfrm>
            <a:off x="612648" y="4370831"/>
            <a:ext cx="310896" cy="310896"/>
          </a:xfrm>
          <a:prstGeom prst="ellipse">
            <a:avLst/>
          </a:prstGeom>
          <a:solidFill>
            <a:srgbClr val="2E6E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334255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바이너리 크기 검사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2896" y="4334255"/>
            <a:ext cx="67601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Slot 한계(≤128KB) 초과 시 중단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" y="4942331"/>
            <a:ext cx="310896" cy="310896"/>
          </a:xfrm>
          <a:prstGeom prst="ellipse">
            <a:avLst/>
          </a:prstGeom>
          <a:solidFill>
            <a:srgbClr val="2E6E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905755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ECDSA 서명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2896" y="4905755"/>
            <a:ext cx="67601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개인키는 Jenkins Credentials로만 관리</a:t>
            </a:r>
          </a:p>
        </p:txBody>
      </p:sp>
      <p:sp>
        <p:nvSpPr>
          <p:cNvPr id="31" name="Oval 30"/>
          <p:cNvSpPr/>
          <p:nvPr/>
        </p:nvSpPr>
        <p:spPr>
          <a:xfrm>
            <a:off x="612648" y="5513831"/>
            <a:ext cx="310896" cy="310896"/>
          </a:xfrm>
          <a:prstGeom prst="ellipse">
            <a:avLst/>
          </a:prstGeom>
          <a:solidFill>
            <a:srgbClr val="2E6E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477255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OTA 배포 &amp; 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2896" y="5477255"/>
            <a:ext cx="67601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UDS/ISO-TP 전송 → heartbeat 슬롯 전환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11  PROCESS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개발 프로세스 &amp; 추적성 (ASPICE 참고)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요구사항 → 설계 → 구현 → 테스트 → 트러블슈팅 양방향 추적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28800"/>
            <a:ext cx="1454287" cy="950976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SRS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요구사항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SWE.1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21215" y="2304288"/>
            <a:ext cx="146304" cy="0"/>
          </a:xfrm>
          <a:prstGeom prst="line">
            <a:avLst/>
          </a:prstGeom>
          <a:ln w="1778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67519" y="1828800"/>
            <a:ext cx="1454287" cy="950976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SAD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아키텍처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SWE.2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21806" y="2304288"/>
            <a:ext cx="146304" cy="0"/>
          </a:xfrm>
          <a:prstGeom prst="line">
            <a:avLst/>
          </a:prstGeom>
          <a:ln w="1778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68110" y="1828800"/>
            <a:ext cx="1454287" cy="950976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SDD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상세설계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SWE.3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22397" y="2304288"/>
            <a:ext cx="146304" cy="0"/>
          </a:xfrm>
          <a:prstGeom prst="line">
            <a:avLst/>
          </a:prstGeom>
          <a:ln w="1778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68701" y="1828800"/>
            <a:ext cx="1454287" cy="950976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RTM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추적성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SWE.1–6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22988" y="2304288"/>
            <a:ext cx="146304" cy="0"/>
          </a:xfrm>
          <a:prstGeom prst="line">
            <a:avLst/>
          </a:prstGeom>
          <a:ln w="1778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69292" y="1828800"/>
            <a:ext cx="1454287" cy="950976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TP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테스트계획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SWE.5/6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23579" y="2304288"/>
            <a:ext cx="146304" cy="0"/>
          </a:xfrm>
          <a:prstGeom prst="line">
            <a:avLst/>
          </a:prstGeom>
          <a:ln w="1778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69883" y="1828800"/>
            <a:ext cx="1454287" cy="950976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테스트결과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SWE.5/6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24170" y="2304288"/>
            <a:ext cx="146304" cy="0"/>
          </a:xfrm>
          <a:prstGeom prst="line">
            <a:avLst/>
          </a:prstGeom>
          <a:ln w="17780">
            <a:solidFill>
              <a:srgbClr val="2E6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70474" y="1828800"/>
            <a:ext cx="1454287" cy="950976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TSR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트러블슈팅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SUP.9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15468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주요 의사결정 기록 — ADR 5종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474720"/>
            <a:ext cx="2094524" cy="54864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ADR-001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활성화 아키텍처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07756" y="3474720"/>
            <a:ext cx="2094524" cy="54864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ADR-002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Tboot 측정 방식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8584" y="3474720"/>
            <a:ext cx="2094524" cy="54864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ADR-003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잠금 저장(RAM/NV)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89412" y="3474720"/>
            <a:ext cx="2094524" cy="54864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ADR-004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Seed RNG 한계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0240" y="3474720"/>
            <a:ext cx="2094524" cy="54864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ADR-005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문서 명명 규칙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25196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표준 · 규격 근거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572000"/>
            <a:ext cx="147675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572000"/>
            <a:ext cx="147675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ISO 14229 (UDS)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71700" y="457200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71700" y="4572000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ISO 15765-2 (ISO-TP)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5092" y="4572000"/>
            <a:ext cx="101041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65092" y="4572000"/>
            <a:ext cx="10104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ISO 24089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4572000"/>
            <a:ext cx="163220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0" y="4572000"/>
            <a:ext cx="16322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AUTOSAR UCM / NvM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63740" y="45720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63740" y="457200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ISO 26262 (FTTI)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46236" y="4572000"/>
            <a:ext cx="20985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46236" y="4572000"/>
            <a:ext cx="209854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Uptane (IEEE-ISTO 6100)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084064"/>
            <a:ext cx="147675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6928" y="5084064"/>
            <a:ext cx="147675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RFC 2104 (HMAC)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71700" y="5084064"/>
            <a:ext cx="20208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171700" y="5084064"/>
            <a:ext cx="202082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NIST SP 800-90 (한계 명시)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12  HARDWARE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실증 플랫폼 &amp; 시연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pic>
        <p:nvPicPr>
          <p:cNvPr id="11" name="Picture 10" descr="_p_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3310128" cy="1993392"/>
          </a:xfrm>
          <a:prstGeom prst="rect">
            <a:avLst/>
          </a:prstGeom>
          <a:ln w="15875">
            <a:solidFill>
              <a:srgbClr val="D6DCE4"/>
            </a:solidFill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66928" y="3575304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측면 — CANable · Gateway · Dual ECU · 전원</a:t>
            </a:r>
          </a:p>
        </p:txBody>
      </p:sp>
      <p:pic>
        <p:nvPicPr>
          <p:cNvPr id="13" name="Picture 12" descr="_p_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572768"/>
            <a:ext cx="3310128" cy="1993392"/>
          </a:xfrm>
          <a:prstGeom prst="rect">
            <a:avLst/>
          </a:prstGeom>
          <a:ln w="15875">
            <a:solidFill>
              <a:srgbClr val="D6DCE4"/>
            </a:solidFill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4041648" y="3575304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상면 — RPi5 Gateway + STM32 Dual ECU + 브레드보드</a:t>
            </a:r>
          </a:p>
        </p:txBody>
      </p:sp>
      <p:pic>
        <p:nvPicPr>
          <p:cNvPr id="15" name="Picture 14" descr="_p_fro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31920"/>
            <a:ext cx="3310128" cy="1993392"/>
          </a:xfrm>
          <a:prstGeom prst="rect">
            <a:avLst/>
          </a:prstGeom>
          <a:ln w="15875">
            <a:solidFill>
              <a:srgbClr val="D6DCE4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566928" y="5934456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정면 — 2WD 차체 + HC-SR04 초음파 센서</a:t>
            </a:r>
          </a:p>
        </p:txBody>
      </p:sp>
      <p:pic>
        <p:nvPicPr>
          <p:cNvPr id="17" name="Picture 16" descr="_p_scop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3931920"/>
            <a:ext cx="3310128" cy="1993392"/>
          </a:xfrm>
          <a:prstGeom prst="rect">
            <a:avLst/>
          </a:prstGeom>
          <a:ln w="15875">
            <a:solidFill>
              <a:srgbClr val="D6DCE4"/>
            </a:solidFill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4041648" y="5934456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RIGOL DHO804 — CANH/CANL · 신호 계측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572768"/>
            <a:ext cx="4053536" cy="4626864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399" y="1719072"/>
            <a:ext cx="3651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시연 영상 &amp; 소스코드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99" y="2048256"/>
            <a:ext cx="365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스마트폰 카메라로 QR 스캔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399" y="2414016"/>
            <a:ext cx="365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시연 영상 — App v1 → v2 OTA 무중단 업데이트</a:t>
            </a:r>
          </a:p>
        </p:txBody>
      </p:sp>
      <p:pic>
        <p:nvPicPr>
          <p:cNvPr id="23" name="Picture 22" descr="qr_vide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779" y="2724912"/>
            <a:ext cx="1234440" cy="1234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399" y="3968496"/>
            <a:ext cx="365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youtu.be/_RbVwU_nPHI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399" y="4334256"/>
            <a:ext cx="365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소스코드 — GitHub</a:t>
            </a:r>
          </a:p>
        </p:txBody>
      </p:sp>
      <p:pic>
        <p:nvPicPr>
          <p:cNvPr id="26" name="Picture 25" descr="qr_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0779" y="4645152"/>
            <a:ext cx="1234440" cy="12344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399" y="5888736"/>
            <a:ext cx="365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github.com/JaehyeongIm/automotive-secure-ota-ecu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13  VERIFICATION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검증 결과 · 한계 · 향후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868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66928" y="128930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D6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기반 Secure OTA 펌웨어 파이프라인  ·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87" y="6492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검증 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56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792224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단위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792224"/>
            <a:ext cx="85889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Ceedling 4종 — 슬롯선택·HMAC·OTA메타·UDS 상태머신 (호스트 검증)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3134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2249424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보안 공격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249424"/>
            <a:ext cx="85889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10종 시나리오 전부 거부 / Safe State 처리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706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2706624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실패 복구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2706624"/>
            <a:ext cx="85889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전원 차단·통신 중단·Self-test 실패 → 기존 Confirmed 슬롯 롤백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278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163824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실차 실증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163824"/>
            <a:ext cx="85889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App v1(즉시 정지) → v2(자동 후진) OTA 무중단 슬롯 전환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84048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BF4EA"/>
          </a:solidFill>
          <a:ln w="12700">
            <a:solidFill>
              <a:srgbClr val="E6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한계 (명시적 인정)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5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직진 주행 미보장 — 실행마다 방향이 좌·우 불규칙, 원인(PWM 초기 타이밍·기구·SW) 미파악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5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SecurityAccess Seed 엔트로피 약함 (F446 무 TRNG, SP 800-90 미준수)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5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SecurityAccess 잠금 RAM 기반 — 전원 리셋으로 해제 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3840480"/>
            <a:ext cx="5297119" cy="20116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향후 과제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HMAC_DRBG / HSM·SHE 기반 키·난수 강화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잠금 상태 NV 지속(리셋 우회 차단)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Delta Update로 전송량·시간 최적화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차량용 MCU(AURIX·S32K) 포팅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C8CA8"/>
                </a:solidFill>
                <a:latin typeface="Apple SD Gothic Neo"/>
                <a:ea typeface="Apple SD Gothic Neo"/>
                <a:cs typeface="Apple SD Gothic Neo"/>
              </a:rPr>
              <a:t>SUMMARY · CORE COMPETENCIES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241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확보한 핵심 역량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755648"/>
            <a:ext cx="2011680" cy="381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8" y="2057400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 w="12700">
            <a:solidFill>
              <a:srgbClr val="33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2057400"/>
            <a:ext cx="73152" cy="1078992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03704"/>
            <a:ext cx="48006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펌웨어 · 부트로더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6D4E0"/>
                </a:solidFill>
                <a:latin typeface="Apple SD Gothic Neo"/>
                <a:ea typeface="Apple SD Gothic Neo"/>
                <a:cs typeface="Apple SD Gothic Neo"/>
              </a:rPr>
              <a:t>Custom Secure Boot · A/B Slot · VTOR/IWDG · Flash 파티션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3368" y="2057400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 w="12700">
            <a:solidFill>
              <a:srgbClr val="33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3368" y="2057400"/>
            <a:ext cx="73152" cy="1078992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203704"/>
            <a:ext cx="48006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보안 · 암호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6D4E0"/>
                </a:solidFill>
                <a:latin typeface="Apple SD Gothic Neo"/>
                <a:ea typeface="Apple SD Gothic Neo"/>
                <a:cs typeface="Apple SD Gothic Neo"/>
              </a:rPr>
              <a:t>ECDSA-P256 · SHA-256 · HMAC · Anti-rollback · 위협 모델링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392424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 w="12700">
            <a:solidFill>
              <a:srgbClr val="33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" y="3392424"/>
            <a:ext cx="73152" cy="1078992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538728"/>
            <a:ext cx="48006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차량 네트워크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6D4E0"/>
                </a:solidFill>
                <a:latin typeface="Apple SD Gothic Neo"/>
                <a:ea typeface="Apple SD Gothic Neo"/>
                <a:cs typeface="Apple SD Gothic Neo"/>
              </a:rPr>
              <a:t>CAN · ISO-TP(SF/FF/CF/FC) · UDS 리프로그래밍 · NRC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3368" y="3392424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 w="12700">
            <a:solidFill>
              <a:srgbClr val="33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73368" y="3392424"/>
            <a:ext cx="73152" cy="1078992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538728"/>
            <a:ext cx="48006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디버깅 · 계측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6D4E0"/>
                </a:solidFill>
                <a:latin typeface="Apple SD Gothic Neo"/>
                <a:ea typeface="Apple SD Gothic Neo"/>
                <a:cs typeface="Apple SD Gothic Neo"/>
              </a:rPr>
              <a:t>ST-LINK · 오실로스코프 · 로직분석기 · 근본원인 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727448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 w="12700">
            <a:solidFill>
              <a:srgbClr val="33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" y="4727448"/>
            <a:ext cx="73152" cy="1078992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873752"/>
            <a:ext cx="48006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CI/CD · 자동화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6D4E0"/>
                </a:solidFill>
                <a:latin typeface="Apple SD Gothic Neo"/>
                <a:ea typeface="Apple SD Gothic Neo"/>
                <a:cs typeface="Apple SD Gothic Neo"/>
              </a:rPr>
              <a:t>Jenkins · cppcheck · ceedling · 크로스컴파일 · 서명 자동화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4727448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 w="12700">
            <a:solidFill>
              <a:srgbClr val="33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73368" y="4727448"/>
            <a:ext cx="73152" cy="1078992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6459" rIns="27432" bIns="16459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873752"/>
            <a:ext cx="48006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 프로세스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6D4E0"/>
                </a:solidFill>
                <a:latin typeface="Apple SD Gothic Neo"/>
                <a:ea typeface="Apple SD Gothic Neo"/>
                <a:cs typeface="Apple SD Gothic Neo"/>
              </a:rPr>
              <a:t>SRS/RTM 추적성 · ADR · ASPICE 참고 · 표준 근거 설계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6144768"/>
            <a:ext cx="10469880" cy="0"/>
          </a:xfrm>
          <a:prstGeom prst="line">
            <a:avLst/>
          </a:prstGeom>
          <a:ln w="12700">
            <a:solidFill>
              <a:srgbClr val="3346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6236208"/>
            <a:ext cx="10515600" cy="55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9FB2C2"/>
                </a:solidFill>
                <a:latin typeface="Apple SD Gothic Neo"/>
                <a:ea typeface="Apple SD Gothic Neo"/>
                <a:cs typeface="Apple SD Gothic Neo"/>
              </a:rPr>
              <a:t>임재형  Jaehyeong </a:t>
            </a:r>
            <a:r>
              <a:rPr sz="1150" b="0" i="0" dirty="0" err="1">
                <a:solidFill>
                  <a:srgbClr val="9FB2C2"/>
                </a:solidFill>
                <a:latin typeface="Apple SD Gothic Neo"/>
                <a:ea typeface="Apple SD Gothic Neo"/>
                <a:cs typeface="Apple SD Gothic Neo"/>
              </a:rPr>
              <a:t>Im</a:t>
            </a:r>
            <a:r>
              <a:rPr sz="1150" b="0" i="0" dirty="0">
                <a:solidFill>
                  <a:srgbClr val="9FB2C2"/>
                </a:solidFill>
                <a:latin typeface="Apple SD Gothic Neo"/>
                <a:ea typeface="Apple SD Gothic Neo"/>
                <a:cs typeface="Apple SD Gothic Neo"/>
              </a:rPr>
              <a:t>   ·   dlawogud517@gmail.com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050" b="1" i="0" dirty="0">
                <a:solidFill>
                  <a:srgbClr val="4C8CA8"/>
                </a:solidFill>
                <a:latin typeface="Apple SD Gothic Neo"/>
                <a:ea typeface="Apple SD Gothic Neo"/>
                <a:cs typeface="Apple SD Gothic Neo"/>
              </a:rPr>
              <a:t>GitHub </a:t>
            </a:r>
            <a:r>
              <a:rPr lang="ko-KR" altLang="ko-KR" sz="1050" dirty="0">
                <a:hlinkClick r:id="rId2"/>
              </a:rPr>
              <a:t>https://github.com/JaehyeongIm/automotive-secure-ota-ecu </a:t>
            </a:r>
            <a:br>
              <a:rPr lang="en-US" altLang="ko-KR" sz="1050" dirty="0"/>
            </a:br>
            <a:r>
              <a:rPr sz="1050" b="1" i="0" dirty="0">
                <a:solidFill>
                  <a:srgbClr val="4C8CA8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  <a:r>
              <a:rPr lang="ko-KR" altLang="ko-KR" sz="1050" dirty="0">
                <a:hlinkClick r:id="rId3"/>
              </a:rPr>
              <a:t> https://youtu.be/_RbVwU_nPHI?si=XaKG5B_UvemBwbIF</a:t>
            </a:r>
            <a:endParaRPr sz="1050" b="0" i="0" dirty="0">
              <a:solidFill>
                <a:srgbClr val="9FB2C2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2294</Words>
  <Application>Microsoft Macintosh PowerPoint</Application>
  <PresentationFormat>와이드스크린</PresentationFormat>
  <Paragraphs>370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재형 임</cp:lastModifiedBy>
  <cp:revision>9</cp:revision>
  <dcterms:created xsi:type="dcterms:W3CDTF">2013-01-27T09:14:16Z</dcterms:created>
  <dcterms:modified xsi:type="dcterms:W3CDTF">2026-06-02T12:33:38Z</dcterms:modified>
  <cp:category/>
</cp:coreProperties>
</file>